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0Y8QYKX/Q9ZdJ8r013XHtzS3X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6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22" Type="http://customschemas.google.com/relationships/presentationmetadata" Target="metadata"/><Relationship Id="rId21" Type="http://schemas.openxmlformats.org/officeDocument/2006/relationships/font" Target="fonts/Quattrocen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9" Type="http://schemas.openxmlformats.org/officeDocument/2006/relationships/font" Target="fonts/QuattrocentoSans-bold.fntdata"/><Relationship Id="rId18" Type="http://schemas.openxmlformats.org/officeDocument/2006/relationships/font" Target="fonts/Quattrocento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f7b91b5cb_1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f7b91b5cb_1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f7b91b5cb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df7b91b5cb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f7b91b5cb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df7b91b5cb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f7b91b5cb_1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f7b91b5cb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f7b91b5cb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df7b91b5cb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7"/>
          <p:cNvSpPr/>
          <p:nvPr>
            <p:ph idx="2" type="pic"/>
          </p:nvPr>
        </p:nvSpPr>
        <p:spPr>
          <a:xfrm>
            <a:off x="4849586" y="751114"/>
            <a:ext cx="6580414" cy="6106886"/>
          </a:xfrm>
          <a:prstGeom prst="rect">
            <a:avLst/>
          </a:prstGeom>
          <a:noFill/>
          <a:ln>
            <a:noFill/>
          </a:ln>
          <a:effectLst>
            <a:outerShdw blurRad="330200" sx="90000" rotWithShape="0" dir="5400000" dist="317500" sy="-19000">
              <a:srgbClr val="000000">
                <a:alpha val="41960"/>
              </a:srgbClr>
            </a:outerShdw>
          </a:effectLst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 showMasterSp="0">
  <p:cSld name="6_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/>
          <p:nvPr/>
        </p:nvSpPr>
        <p:spPr>
          <a:xfrm>
            <a:off x="3419092" y="-1"/>
            <a:ext cx="8772907" cy="6858002"/>
          </a:xfrm>
          <a:custGeom>
            <a:rect b="b" l="l" r="r" t="t"/>
            <a:pathLst>
              <a:path extrusionOk="0" h="6858002" w="8772906">
                <a:moveTo>
                  <a:pt x="5314264" y="0"/>
                </a:moveTo>
                <a:lnTo>
                  <a:pt x="8772906" y="0"/>
                </a:lnTo>
                <a:lnTo>
                  <a:pt x="8772906" y="6858002"/>
                </a:lnTo>
                <a:lnTo>
                  <a:pt x="5619288" y="6858002"/>
                </a:lnTo>
                <a:lnTo>
                  <a:pt x="5619288" y="6858000"/>
                </a:lnTo>
                <a:lnTo>
                  <a:pt x="0" y="6858000"/>
                </a:lnTo>
                <a:lnTo>
                  <a:pt x="531426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8"/>
          <p:cNvSpPr/>
          <p:nvPr>
            <p:ph idx="2" type="pic"/>
          </p:nvPr>
        </p:nvSpPr>
        <p:spPr>
          <a:xfrm>
            <a:off x="4589709" y="550919"/>
            <a:ext cx="3012585" cy="5716531"/>
          </a:xfrm>
          <a:prstGeom prst="rect">
            <a:avLst/>
          </a:prstGeom>
          <a:noFill/>
          <a:ln>
            <a:noFill/>
          </a:ln>
          <a:effectLst>
            <a:outerShdw blurRad="228600" kx="-1200000" rotWithShape="0" algn="bl" sy="23000">
              <a:srgbClr val="000000">
                <a:alpha val="27058"/>
              </a:srgbClr>
            </a:outerShdw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" showMasterSp="0">
  <p:cSld name="8_Title Slide">
    <p:bg>
      <p:bgPr>
        <a:solidFill>
          <a:schemeClr val="accen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/>
          <p:nvPr/>
        </p:nvSpPr>
        <p:spPr>
          <a:xfrm>
            <a:off x="8751" y="6349854"/>
            <a:ext cx="6219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9"/>
          <p:cNvSpPr txBox="1"/>
          <p:nvPr/>
        </p:nvSpPr>
        <p:spPr>
          <a:xfrm rot="-5400000">
            <a:off x="-855107" y="3298195"/>
            <a:ext cx="234872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____</a:t>
            </a:r>
            <a:r>
              <a:rPr lang="en-GB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Football Presentation GOAT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49"/>
          <p:cNvGrpSpPr/>
          <p:nvPr/>
        </p:nvGrpSpPr>
        <p:grpSpPr>
          <a:xfrm>
            <a:off x="8751" y="181624"/>
            <a:ext cx="976549" cy="568636"/>
            <a:chOff x="-8389" y="144821"/>
            <a:chExt cx="976549" cy="568636"/>
          </a:xfrm>
        </p:grpSpPr>
        <p:sp>
          <p:nvSpPr>
            <p:cNvPr id="29" name="Google Shape;29;p49"/>
            <p:cNvSpPr/>
            <p:nvPr/>
          </p:nvSpPr>
          <p:spPr>
            <a:xfrm>
              <a:off x="140191" y="191733"/>
              <a:ext cx="508352" cy="190673"/>
            </a:xfrm>
            <a:prstGeom prst="parallelogram">
              <a:avLst>
                <a:gd fmla="val 25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9"/>
            <p:cNvSpPr txBox="1"/>
            <p:nvPr/>
          </p:nvSpPr>
          <p:spPr>
            <a:xfrm>
              <a:off x="127645" y="144821"/>
              <a:ext cx="4972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200">
                  <a:solidFill>
                    <a:schemeClr val="accent1"/>
                  </a:solidFill>
                  <a:latin typeface="Play"/>
                  <a:ea typeface="Play"/>
                  <a:cs typeface="Play"/>
                  <a:sym typeface="Play"/>
                </a:rPr>
                <a:t>THE</a:t>
              </a:r>
              <a:endParaRPr/>
            </a:p>
          </p:txBody>
        </p:sp>
        <p:sp>
          <p:nvSpPr>
            <p:cNvPr id="31" name="Google Shape;31;p49"/>
            <p:cNvSpPr/>
            <p:nvPr/>
          </p:nvSpPr>
          <p:spPr>
            <a:xfrm>
              <a:off x="661089" y="157228"/>
              <a:ext cx="237431" cy="225178"/>
            </a:xfrm>
            <a:custGeom>
              <a:rect b="b" l="l" r="r" t="t"/>
              <a:pathLst>
                <a:path extrusionOk="0" h="792063" w="835165">
                  <a:moveTo>
                    <a:pt x="227160" y="0"/>
                  </a:moveTo>
                  <a:lnTo>
                    <a:pt x="485488" y="0"/>
                  </a:lnTo>
                  <a:lnTo>
                    <a:pt x="486729" y="2619"/>
                  </a:lnTo>
                  <a:lnTo>
                    <a:pt x="488984" y="7581"/>
                  </a:lnTo>
                  <a:lnTo>
                    <a:pt x="491175" y="12542"/>
                  </a:lnTo>
                  <a:lnTo>
                    <a:pt x="493430" y="17503"/>
                  </a:lnTo>
                  <a:lnTo>
                    <a:pt x="495557" y="22529"/>
                  </a:lnTo>
                  <a:lnTo>
                    <a:pt x="497684" y="27555"/>
                  </a:lnTo>
                  <a:lnTo>
                    <a:pt x="499939" y="32516"/>
                  </a:lnTo>
                  <a:lnTo>
                    <a:pt x="502130" y="37413"/>
                  </a:lnTo>
                  <a:lnTo>
                    <a:pt x="504386" y="42310"/>
                  </a:lnTo>
                  <a:lnTo>
                    <a:pt x="506770" y="47207"/>
                  </a:lnTo>
                  <a:lnTo>
                    <a:pt x="517467" y="73367"/>
                  </a:lnTo>
                  <a:lnTo>
                    <a:pt x="517854" y="73818"/>
                  </a:lnTo>
                  <a:lnTo>
                    <a:pt x="519079" y="75236"/>
                  </a:lnTo>
                  <a:lnTo>
                    <a:pt x="520947" y="77491"/>
                  </a:lnTo>
                  <a:lnTo>
                    <a:pt x="523396" y="80391"/>
                  </a:lnTo>
                  <a:lnTo>
                    <a:pt x="526425" y="84063"/>
                  </a:lnTo>
                  <a:lnTo>
                    <a:pt x="529840" y="88187"/>
                  </a:lnTo>
                  <a:lnTo>
                    <a:pt x="533642" y="92762"/>
                  </a:lnTo>
                  <a:lnTo>
                    <a:pt x="537638" y="97723"/>
                  </a:lnTo>
                  <a:lnTo>
                    <a:pt x="541891" y="103007"/>
                  </a:lnTo>
                  <a:lnTo>
                    <a:pt x="546144" y="108484"/>
                  </a:lnTo>
                  <a:lnTo>
                    <a:pt x="550397" y="113961"/>
                  </a:lnTo>
                  <a:lnTo>
                    <a:pt x="554650" y="119566"/>
                  </a:lnTo>
                  <a:lnTo>
                    <a:pt x="558581" y="125043"/>
                  </a:lnTo>
                  <a:lnTo>
                    <a:pt x="562319" y="130262"/>
                  </a:lnTo>
                  <a:lnTo>
                    <a:pt x="564059" y="132840"/>
                  </a:lnTo>
                  <a:lnTo>
                    <a:pt x="565734" y="135288"/>
                  </a:lnTo>
                  <a:lnTo>
                    <a:pt x="567281" y="137737"/>
                  </a:lnTo>
                  <a:lnTo>
                    <a:pt x="568570" y="139992"/>
                  </a:lnTo>
                  <a:lnTo>
                    <a:pt x="568956" y="140314"/>
                  </a:lnTo>
                  <a:lnTo>
                    <a:pt x="569859" y="141216"/>
                  </a:lnTo>
                  <a:lnTo>
                    <a:pt x="571276" y="142505"/>
                  </a:lnTo>
                  <a:lnTo>
                    <a:pt x="572887" y="143987"/>
                  </a:lnTo>
                  <a:lnTo>
                    <a:pt x="574691" y="145598"/>
                  </a:lnTo>
                  <a:lnTo>
                    <a:pt x="576432" y="147144"/>
                  </a:lnTo>
                  <a:lnTo>
                    <a:pt x="578043" y="148562"/>
                  </a:lnTo>
                  <a:lnTo>
                    <a:pt x="579331" y="149528"/>
                  </a:lnTo>
                  <a:lnTo>
                    <a:pt x="582425" y="151848"/>
                  </a:lnTo>
                  <a:lnTo>
                    <a:pt x="585131" y="154167"/>
                  </a:lnTo>
                  <a:lnTo>
                    <a:pt x="587516" y="156551"/>
                  </a:lnTo>
                  <a:lnTo>
                    <a:pt x="589578" y="158807"/>
                  </a:lnTo>
                  <a:lnTo>
                    <a:pt x="591446" y="161126"/>
                  </a:lnTo>
                  <a:lnTo>
                    <a:pt x="592929" y="163446"/>
                  </a:lnTo>
                  <a:lnTo>
                    <a:pt x="594153" y="165637"/>
                  </a:lnTo>
                  <a:lnTo>
                    <a:pt x="595184" y="167892"/>
                  </a:lnTo>
                  <a:lnTo>
                    <a:pt x="595957" y="170018"/>
                  </a:lnTo>
                  <a:lnTo>
                    <a:pt x="596602" y="172145"/>
                  </a:lnTo>
                  <a:lnTo>
                    <a:pt x="596924" y="174206"/>
                  </a:lnTo>
                  <a:lnTo>
                    <a:pt x="597117" y="176333"/>
                  </a:lnTo>
                  <a:lnTo>
                    <a:pt x="597182" y="178266"/>
                  </a:lnTo>
                  <a:lnTo>
                    <a:pt x="597053" y="180199"/>
                  </a:lnTo>
                  <a:lnTo>
                    <a:pt x="596795" y="182067"/>
                  </a:lnTo>
                  <a:lnTo>
                    <a:pt x="596473" y="183872"/>
                  </a:lnTo>
                  <a:lnTo>
                    <a:pt x="595957" y="185611"/>
                  </a:lnTo>
                  <a:lnTo>
                    <a:pt x="595442" y="187286"/>
                  </a:lnTo>
                  <a:lnTo>
                    <a:pt x="594862" y="188833"/>
                  </a:lnTo>
                  <a:lnTo>
                    <a:pt x="594153" y="190250"/>
                  </a:lnTo>
                  <a:lnTo>
                    <a:pt x="593444" y="191668"/>
                  </a:lnTo>
                  <a:lnTo>
                    <a:pt x="592671" y="192957"/>
                  </a:lnTo>
                  <a:lnTo>
                    <a:pt x="591962" y="194116"/>
                  </a:lnTo>
                  <a:lnTo>
                    <a:pt x="591189" y="195147"/>
                  </a:lnTo>
                  <a:lnTo>
                    <a:pt x="589900" y="197080"/>
                  </a:lnTo>
                  <a:lnTo>
                    <a:pt x="588740" y="198369"/>
                  </a:lnTo>
                  <a:lnTo>
                    <a:pt x="587902" y="199207"/>
                  </a:lnTo>
                  <a:lnTo>
                    <a:pt x="587644" y="199464"/>
                  </a:lnTo>
                  <a:lnTo>
                    <a:pt x="587644" y="200366"/>
                  </a:lnTo>
                  <a:lnTo>
                    <a:pt x="587516" y="201204"/>
                  </a:lnTo>
                  <a:lnTo>
                    <a:pt x="587129" y="202042"/>
                  </a:lnTo>
                  <a:lnTo>
                    <a:pt x="586613" y="202815"/>
                  </a:lnTo>
                  <a:lnTo>
                    <a:pt x="585905" y="203653"/>
                  </a:lnTo>
                  <a:lnTo>
                    <a:pt x="585067" y="204361"/>
                  </a:lnTo>
                  <a:lnTo>
                    <a:pt x="584036" y="205070"/>
                  </a:lnTo>
                  <a:lnTo>
                    <a:pt x="582940" y="205715"/>
                  </a:lnTo>
                  <a:lnTo>
                    <a:pt x="581780" y="206359"/>
                  </a:lnTo>
                  <a:lnTo>
                    <a:pt x="580491" y="207003"/>
                  </a:lnTo>
                  <a:lnTo>
                    <a:pt x="579074" y="207583"/>
                  </a:lnTo>
                  <a:lnTo>
                    <a:pt x="577656" y="208227"/>
                  </a:lnTo>
                  <a:lnTo>
                    <a:pt x="576174" y="208743"/>
                  </a:lnTo>
                  <a:lnTo>
                    <a:pt x="574627" y="209258"/>
                  </a:lnTo>
                  <a:lnTo>
                    <a:pt x="573016" y="209709"/>
                  </a:lnTo>
                  <a:lnTo>
                    <a:pt x="571469" y="210225"/>
                  </a:lnTo>
                  <a:lnTo>
                    <a:pt x="568247" y="210998"/>
                  </a:lnTo>
                  <a:lnTo>
                    <a:pt x="565154" y="211771"/>
                  </a:lnTo>
                  <a:lnTo>
                    <a:pt x="562254" y="212351"/>
                  </a:lnTo>
                  <a:lnTo>
                    <a:pt x="559741" y="212867"/>
                  </a:lnTo>
                  <a:lnTo>
                    <a:pt x="555810" y="213575"/>
                  </a:lnTo>
                  <a:lnTo>
                    <a:pt x="554328" y="213769"/>
                  </a:lnTo>
                  <a:lnTo>
                    <a:pt x="551815" y="214220"/>
                  </a:lnTo>
                  <a:lnTo>
                    <a:pt x="549495" y="214542"/>
                  </a:lnTo>
                  <a:lnTo>
                    <a:pt x="547497" y="214800"/>
                  </a:lnTo>
                  <a:lnTo>
                    <a:pt x="545693" y="214864"/>
                  </a:lnTo>
                  <a:lnTo>
                    <a:pt x="544146" y="214864"/>
                  </a:lnTo>
                  <a:lnTo>
                    <a:pt x="542857" y="214735"/>
                  </a:lnTo>
                  <a:lnTo>
                    <a:pt x="541762" y="214413"/>
                  </a:lnTo>
                  <a:lnTo>
                    <a:pt x="540795" y="214026"/>
                  </a:lnTo>
                  <a:lnTo>
                    <a:pt x="540086" y="213640"/>
                  </a:lnTo>
                  <a:lnTo>
                    <a:pt x="539442" y="213125"/>
                  </a:lnTo>
                  <a:lnTo>
                    <a:pt x="539055" y="212480"/>
                  </a:lnTo>
                  <a:lnTo>
                    <a:pt x="538798" y="211900"/>
                  </a:lnTo>
                  <a:lnTo>
                    <a:pt x="538669" y="211191"/>
                  </a:lnTo>
                  <a:lnTo>
                    <a:pt x="538604" y="210418"/>
                  </a:lnTo>
                  <a:lnTo>
                    <a:pt x="538733" y="209645"/>
                  </a:lnTo>
                  <a:lnTo>
                    <a:pt x="538862" y="208872"/>
                  </a:lnTo>
                  <a:lnTo>
                    <a:pt x="539120" y="208034"/>
                  </a:lnTo>
                  <a:lnTo>
                    <a:pt x="539442" y="207261"/>
                  </a:lnTo>
                  <a:lnTo>
                    <a:pt x="539829" y="206359"/>
                  </a:lnTo>
                  <a:lnTo>
                    <a:pt x="540344" y="205586"/>
                  </a:lnTo>
                  <a:lnTo>
                    <a:pt x="541246" y="204039"/>
                  </a:lnTo>
                  <a:lnTo>
                    <a:pt x="542278" y="202557"/>
                  </a:lnTo>
                  <a:lnTo>
                    <a:pt x="543309" y="201333"/>
                  </a:lnTo>
                  <a:lnTo>
                    <a:pt x="544082" y="200366"/>
                  </a:lnTo>
                  <a:lnTo>
                    <a:pt x="544597" y="199722"/>
                  </a:lnTo>
                  <a:lnTo>
                    <a:pt x="544855" y="199464"/>
                  </a:lnTo>
                  <a:lnTo>
                    <a:pt x="546466" y="198627"/>
                  </a:lnTo>
                  <a:lnTo>
                    <a:pt x="547820" y="197725"/>
                  </a:lnTo>
                  <a:lnTo>
                    <a:pt x="549108" y="196951"/>
                  </a:lnTo>
                  <a:lnTo>
                    <a:pt x="550268" y="196049"/>
                  </a:lnTo>
                  <a:lnTo>
                    <a:pt x="551299" y="195212"/>
                  </a:lnTo>
                  <a:lnTo>
                    <a:pt x="552073" y="194438"/>
                  </a:lnTo>
                  <a:lnTo>
                    <a:pt x="552846" y="193601"/>
                  </a:lnTo>
                  <a:lnTo>
                    <a:pt x="553490" y="192892"/>
                  </a:lnTo>
                  <a:lnTo>
                    <a:pt x="553941" y="192183"/>
                  </a:lnTo>
                  <a:lnTo>
                    <a:pt x="554328" y="191410"/>
                  </a:lnTo>
                  <a:lnTo>
                    <a:pt x="554714" y="190766"/>
                  </a:lnTo>
                  <a:lnTo>
                    <a:pt x="554908" y="190057"/>
                  </a:lnTo>
                  <a:lnTo>
                    <a:pt x="555101" y="189413"/>
                  </a:lnTo>
                  <a:lnTo>
                    <a:pt x="555166" y="188833"/>
                  </a:lnTo>
                  <a:lnTo>
                    <a:pt x="555166" y="188189"/>
                  </a:lnTo>
                  <a:lnTo>
                    <a:pt x="555101" y="187609"/>
                  </a:lnTo>
                  <a:lnTo>
                    <a:pt x="554972" y="187029"/>
                  </a:lnTo>
                  <a:lnTo>
                    <a:pt x="554844" y="186513"/>
                  </a:lnTo>
                  <a:lnTo>
                    <a:pt x="554650" y="186062"/>
                  </a:lnTo>
                  <a:lnTo>
                    <a:pt x="554457" y="185611"/>
                  </a:lnTo>
                  <a:lnTo>
                    <a:pt x="553877" y="184774"/>
                  </a:lnTo>
                  <a:lnTo>
                    <a:pt x="553362" y="184129"/>
                  </a:lnTo>
                  <a:lnTo>
                    <a:pt x="552395" y="183163"/>
                  </a:lnTo>
                  <a:lnTo>
                    <a:pt x="551944" y="182841"/>
                  </a:lnTo>
                  <a:lnTo>
                    <a:pt x="528165" y="174529"/>
                  </a:lnTo>
                  <a:lnTo>
                    <a:pt x="496008" y="132904"/>
                  </a:lnTo>
                  <a:lnTo>
                    <a:pt x="495428" y="132969"/>
                  </a:lnTo>
                  <a:lnTo>
                    <a:pt x="494719" y="132904"/>
                  </a:lnTo>
                  <a:lnTo>
                    <a:pt x="494011" y="132711"/>
                  </a:lnTo>
                  <a:lnTo>
                    <a:pt x="493173" y="132325"/>
                  </a:lnTo>
                  <a:lnTo>
                    <a:pt x="492399" y="131744"/>
                  </a:lnTo>
                  <a:lnTo>
                    <a:pt x="491562" y="131100"/>
                  </a:lnTo>
                  <a:lnTo>
                    <a:pt x="490724" y="130327"/>
                  </a:lnTo>
                  <a:lnTo>
                    <a:pt x="489757" y="129489"/>
                  </a:lnTo>
                  <a:lnTo>
                    <a:pt x="488855" y="128458"/>
                  </a:lnTo>
                  <a:lnTo>
                    <a:pt x="487888" y="127363"/>
                  </a:lnTo>
                  <a:lnTo>
                    <a:pt x="486986" y="126268"/>
                  </a:lnTo>
                  <a:lnTo>
                    <a:pt x="485955" y="124979"/>
                  </a:lnTo>
                  <a:lnTo>
                    <a:pt x="483958" y="122337"/>
                  </a:lnTo>
                  <a:lnTo>
                    <a:pt x="482024" y="119631"/>
                  </a:lnTo>
                  <a:lnTo>
                    <a:pt x="478093" y="113961"/>
                  </a:lnTo>
                  <a:lnTo>
                    <a:pt x="474549" y="108677"/>
                  </a:lnTo>
                  <a:lnTo>
                    <a:pt x="473002" y="106358"/>
                  </a:lnTo>
                  <a:lnTo>
                    <a:pt x="471585" y="104489"/>
                  </a:lnTo>
                  <a:lnTo>
                    <a:pt x="471005" y="103651"/>
                  </a:lnTo>
                  <a:lnTo>
                    <a:pt x="470425" y="102943"/>
                  </a:lnTo>
                  <a:lnTo>
                    <a:pt x="469974" y="102427"/>
                  </a:lnTo>
                  <a:lnTo>
                    <a:pt x="469523" y="102041"/>
                  </a:lnTo>
                  <a:lnTo>
                    <a:pt x="468169" y="100881"/>
                  </a:lnTo>
                  <a:lnTo>
                    <a:pt x="466880" y="99914"/>
                  </a:lnTo>
                  <a:lnTo>
                    <a:pt x="465785" y="99270"/>
                  </a:lnTo>
                  <a:lnTo>
                    <a:pt x="464818" y="98819"/>
                  </a:lnTo>
                  <a:lnTo>
                    <a:pt x="463787" y="98496"/>
                  </a:lnTo>
                  <a:lnTo>
                    <a:pt x="462950" y="98239"/>
                  </a:lnTo>
                  <a:lnTo>
                    <a:pt x="462047" y="98110"/>
                  </a:lnTo>
                  <a:lnTo>
                    <a:pt x="461210" y="98110"/>
                  </a:lnTo>
                  <a:lnTo>
                    <a:pt x="459276" y="98110"/>
                  </a:lnTo>
                  <a:lnTo>
                    <a:pt x="457150" y="98045"/>
                  </a:lnTo>
                  <a:lnTo>
                    <a:pt x="455861" y="97917"/>
                  </a:lnTo>
                  <a:lnTo>
                    <a:pt x="454508" y="97659"/>
                  </a:lnTo>
                  <a:lnTo>
                    <a:pt x="453025" y="97272"/>
                  </a:lnTo>
                  <a:lnTo>
                    <a:pt x="451221" y="96692"/>
                  </a:lnTo>
                  <a:lnTo>
                    <a:pt x="450577" y="96370"/>
                  </a:lnTo>
                  <a:lnTo>
                    <a:pt x="449997" y="95984"/>
                  </a:lnTo>
                  <a:lnTo>
                    <a:pt x="449288" y="95533"/>
                  </a:lnTo>
                  <a:lnTo>
                    <a:pt x="448708" y="94953"/>
                  </a:lnTo>
                  <a:lnTo>
                    <a:pt x="447999" y="94308"/>
                  </a:lnTo>
                  <a:lnTo>
                    <a:pt x="447484" y="93664"/>
                  </a:lnTo>
                  <a:lnTo>
                    <a:pt x="446904" y="92891"/>
                  </a:lnTo>
                  <a:lnTo>
                    <a:pt x="446259" y="92118"/>
                  </a:lnTo>
                  <a:lnTo>
                    <a:pt x="444004" y="88509"/>
                  </a:lnTo>
                  <a:lnTo>
                    <a:pt x="441813" y="84837"/>
                  </a:lnTo>
                  <a:lnTo>
                    <a:pt x="440653" y="83097"/>
                  </a:lnTo>
                  <a:lnTo>
                    <a:pt x="439493" y="81550"/>
                  </a:lnTo>
                  <a:lnTo>
                    <a:pt x="438913" y="80906"/>
                  </a:lnTo>
                  <a:lnTo>
                    <a:pt x="438269" y="80197"/>
                  </a:lnTo>
                  <a:lnTo>
                    <a:pt x="437688" y="79682"/>
                  </a:lnTo>
                  <a:lnTo>
                    <a:pt x="437108" y="79231"/>
                  </a:lnTo>
                  <a:lnTo>
                    <a:pt x="436464" y="78780"/>
                  </a:lnTo>
                  <a:lnTo>
                    <a:pt x="435820" y="78522"/>
                  </a:lnTo>
                  <a:lnTo>
                    <a:pt x="435175" y="78329"/>
                  </a:lnTo>
                  <a:lnTo>
                    <a:pt x="434531" y="78264"/>
                  </a:lnTo>
                  <a:lnTo>
                    <a:pt x="433886" y="78264"/>
                  </a:lnTo>
                  <a:lnTo>
                    <a:pt x="433113" y="78458"/>
                  </a:lnTo>
                  <a:lnTo>
                    <a:pt x="432469" y="78780"/>
                  </a:lnTo>
                  <a:lnTo>
                    <a:pt x="431631" y="79231"/>
                  </a:lnTo>
                  <a:lnTo>
                    <a:pt x="431309" y="79553"/>
                  </a:lnTo>
                  <a:lnTo>
                    <a:pt x="431051" y="79875"/>
                  </a:lnTo>
                  <a:lnTo>
                    <a:pt x="430729" y="80262"/>
                  </a:lnTo>
                  <a:lnTo>
                    <a:pt x="430407" y="80777"/>
                  </a:lnTo>
                  <a:lnTo>
                    <a:pt x="430213" y="81228"/>
                  </a:lnTo>
                  <a:lnTo>
                    <a:pt x="430020" y="81744"/>
                  </a:lnTo>
                  <a:lnTo>
                    <a:pt x="429827" y="82388"/>
                  </a:lnTo>
                  <a:lnTo>
                    <a:pt x="429633" y="83032"/>
                  </a:lnTo>
                  <a:lnTo>
                    <a:pt x="429376" y="84385"/>
                  </a:lnTo>
                  <a:lnTo>
                    <a:pt x="429182" y="85867"/>
                  </a:lnTo>
                  <a:lnTo>
                    <a:pt x="429053" y="87414"/>
                  </a:lnTo>
                  <a:lnTo>
                    <a:pt x="428989" y="89025"/>
                  </a:lnTo>
                  <a:lnTo>
                    <a:pt x="428989" y="90636"/>
                  </a:lnTo>
                  <a:lnTo>
                    <a:pt x="428989" y="92247"/>
                  </a:lnTo>
                  <a:lnTo>
                    <a:pt x="428989" y="93793"/>
                  </a:lnTo>
                  <a:lnTo>
                    <a:pt x="429053" y="95275"/>
                  </a:lnTo>
                  <a:lnTo>
                    <a:pt x="429247" y="97852"/>
                  </a:lnTo>
                  <a:lnTo>
                    <a:pt x="429376" y="99850"/>
                  </a:lnTo>
                  <a:lnTo>
                    <a:pt x="429633" y="102041"/>
                  </a:lnTo>
                  <a:lnTo>
                    <a:pt x="429827" y="104167"/>
                  </a:lnTo>
                  <a:lnTo>
                    <a:pt x="430149" y="106293"/>
                  </a:lnTo>
                  <a:lnTo>
                    <a:pt x="430407" y="108484"/>
                  </a:lnTo>
                  <a:lnTo>
                    <a:pt x="431180" y="112736"/>
                  </a:lnTo>
                  <a:lnTo>
                    <a:pt x="431953" y="116989"/>
                  </a:lnTo>
                  <a:lnTo>
                    <a:pt x="432855" y="121242"/>
                  </a:lnTo>
                  <a:lnTo>
                    <a:pt x="433822" y="125430"/>
                  </a:lnTo>
                  <a:lnTo>
                    <a:pt x="434724" y="129683"/>
                  </a:lnTo>
                  <a:lnTo>
                    <a:pt x="435755" y="133935"/>
                  </a:lnTo>
                  <a:lnTo>
                    <a:pt x="436657" y="137995"/>
                  </a:lnTo>
                  <a:lnTo>
                    <a:pt x="437688" y="142118"/>
                  </a:lnTo>
                  <a:lnTo>
                    <a:pt x="438655" y="146113"/>
                  </a:lnTo>
                  <a:lnTo>
                    <a:pt x="439622" y="150237"/>
                  </a:lnTo>
                  <a:lnTo>
                    <a:pt x="440717" y="154296"/>
                  </a:lnTo>
                  <a:lnTo>
                    <a:pt x="441877" y="158356"/>
                  </a:lnTo>
                  <a:lnTo>
                    <a:pt x="442973" y="162351"/>
                  </a:lnTo>
                  <a:lnTo>
                    <a:pt x="444197" y="166410"/>
                  </a:lnTo>
                  <a:lnTo>
                    <a:pt x="444648" y="167634"/>
                  </a:lnTo>
                  <a:lnTo>
                    <a:pt x="445164" y="168987"/>
                  </a:lnTo>
                  <a:lnTo>
                    <a:pt x="445744" y="170276"/>
                  </a:lnTo>
                  <a:lnTo>
                    <a:pt x="446324" y="171629"/>
                  </a:lnTo>
                  <a:lnTo>
                    <a:pt x="447677" y="174335"/>
                  </a:lnTo>
                  <a:lnTo>
                    <a:pt x="448966" y="176977"/>
                  </a:lnTo>
                  <a:lnTo>
                    <a:pt x="449610" y="178330"/>
                  </a:lnTo>
                  <a:lnTo>
                    <a:pt x="450254" y="179683"/>
                  </a:lnTo>
                  <a:lnTo>
                    <a:pt x="450770" y="181036"/>
                  </a:lnTo>
                  <a:lnTo>
                    <a:pt x="451221" y="182390"/>
                  </a:lnTo>
                  <a:lnTo>
                    <a:pt x="451608" y="183678"/>
                  </a:lnTo>
                  <a:lnTo>
                    <a:pt x="451930" y="185031"/>
                  </a:lnTo>
                  <a:lnTo>
                    <a:pt x="452123" y="186449"/>
                  </a:lnTo>
                  <a:lnTo>
                    <a:pt x="452188" y="187802"/>
                  </a:lnTo>
                  <a:lnTo>
                    <a:pt x="452123" y="188189"/>
                  </a:lnTo>
                  <a:lnTo>
                    <a:pt x="451930" y="188833"/>
                  </a:lnTo>
                  <a:lnTo>
                    <a:pt x="451672" y="189477"/>
                  </a:lnTo>
                  <a:lnTo>
                    <a:pt x="451286" y="190250"/>
                  </a:lnTo>
                  <a:lnTo>
                    <a:pt x="450512" y="192183"/>
                  </a:lnTo>
                  <a:lnTo>
                    <a:pt x="449481" y="194116"/>
                  </a:lnTo>
                  <a:lnTo>
                    <a:pt x="448579" y="195985"/>
                  </a:lnTo>
                  <a:lnTo>
                    <a:pt x="447806" y="197660"/>
                  </a:lnTo>
                  <a:lnTo>
                    <a:pt x="447484" y="198305"/>
                  </a:lnTo>
                  <a:lnTo>
                    <a:pt x="447290" y="198884"/>
                  </a:lnTo>
                  <a:lnTo>
                    <a:pt x="447226" y="199271"/>
                  </a:lnTo>
                  <a:lnTo>
                    <a:pt x="447226" y="199464"/>
                  </a:lnTo>
                  <a:lnTo>
                    <a:pt x="499089" y="278462"/>
                  </a:lnTo>
                  <a:lnTo>
                    <a:pt x="499553" y="279169"/>
                  </a:lnTo>
                  <a:lnTo>
                    <a:pt x="516522" y="305528"/>
                  </a:lnTo>
                  <a:lnTo>
                    <a:pt x="600726" y="436324"/>
                  </a:lnTo>
                  <a:lnTo>
                    <a:pt x="601564" y="434970"/>
                  </a:lnTo>
                  <a:lnTo>
                    <a:pt x="602337" y="433682"/>
                  </a:lnTo>
                  <a:lnTo>
                    <a:pt x="603304" y="432393"/>
                  </a:lnTo>
                  <a:lnTo>
                    <a:pt x="604335" y="431298"/>
                  </a:lnTo>
                  <a:lnTo>
                    <a:pt x="605301" y="430138"/>
                  </a:lnTo>
                  <a:lnTo>
                    <a:pt x="606397" y="429043"/>
                  </a:lnTo>
                  <a:lnTo>
                    <a:pt x="607621" y="428076"/>
                  </a:lnTo>
                  <a:lnTo>
                    <a:pt x="608781" y="427110"/>
                  </a:lnTo>
                  <a:lnTo>
                    <a:pt x="610006" y="426208"/>
                  </a:lnTo>
                  <a:lnTo>
                    <a:pt x="611294" y="425306"/>
                  </a:lnTo>
                  <a:lnTo>
                    <a:pt x="612648" y="424404"/>
                  </a:lnTo>
                  <a:lnTo>
                    <a:pt x="614066" y="423630"/>
                  </a:lnTo>
                  <a:lnTo>
                    <a:pt x="615419" y="422792"/>
                  </a:lnTo>
                  <a:lnTo>
                    <a:pt x="616836" y="422084"/>
                  </a:lnTo>
                  <a:lnTo>
                    <a:pt x="618319" y="421439"/>
                  </a:lnTo>
                  <a:lnTo>
                    <a:pt x="619801" y="420731"/>
                  </a:lnTo>
                  <a:lnTo>
                    <a:pt x="622830" y="419442"/>
                  </a:lnTo>
                  <a:lnTo>
                    <a:pt x="625858" y="418347"/>
                  </a:lnTo>
                  <a:lnTo>
                    <a:pt x="628951" y="417251"/>
                  </a:lnTo>
                  <a:lnTo>
                    <a:pt x="632045" y="416220"/>
                  </a:lnTo>
                  <a:lnTo>
                    <a:pt x="637973" y="414287"/>
                  </a:lnTo>
                  <a:lnTo>
                    <a:pt x="643644" y="412483"/>
                  </a:lnTo>
                  <a:lnTo>
                    <a:pt x="644353" y="412226"/>
                  </a:lnTo>
                  <a:lnTo>
                    <a:pt x="645964" y="411710"/>
                  </a:lnTo>
                  <a:lnTo>
                    <a:pt x="648284" y="410872"/>
                  </a:lnTo>
                  <a:lnTo>
                    <a:pt x="651313" y="409842"/>
                  </a:lnTo>
                  <a:lnTo>
                    <a:pt x="654728" y="408681"/>
                  </a:lnTo>
                  <a:lnTo>
                    <a:pt x="658530" y="407393"/>
                  </a:lnTo>
                  <a:lnTo>
                    <a:pt x="662590" y="405975"/>
                  </a:lnTo>
                  <a:lnTo>
                    <a:pt x="666714" y="404558"/>
                  </a:lnTo>
                  <a:lnTo>
                    <a:pt x="670903" y="403140"/>
                  </a:lnTo>
                  <a:lnTo>
                    <a:pt x="674834" y="401787"/>
                  </a:lnTo>
                  <a:lnTo>
                    <a:pt x="678636" y="400563"/>
                  </a:lnTo>
                  <a:lnTo>
                    <a:pt x="681987" y="399403"/>
                  </a:lnTo>
                  <a:lnTo>
                    <a:pt x="684823" y="398372"/>
                  </a:lnTo>
                  <a:lnTo>
                    <a:pt x="686949" y="397663"/>
                  </a:lnTo>
                  <a:lnTo>
                    <a:pt x="688367" y="397212"/>
                  </a:lnTo>
                  <a:lnTo>
                    <a:pt x="688818" y="397019"/>
                  </a:lnTo>
                  <a:lnTo>
                    <a:pt x="687658" y="366091"/>
                  </a:lnTo>
                  <a:lnTo>
                    <a:pt x="687658" y="364351"/>
                  </a:lnTo>
                  <a:lnTo>
                    <a:pt x="687787" y="362740"/>
                  </a:lnTo>
                  <a:lnTo>
                    <a:pt x="688174" y="361194"/>
                  </a:lnTo>
                  <a:lnTo>
                    <a:pt x="688625" y="359841"/>
                  </a:lnTo>
                  <a:lnTo>
                    <a:pt x="689205" y="358616"/>
                  </a:lnTo>
                  <a:lnTo>
                    <a:pt x="689913" y="357456"/>
                  </a:lnTo>
                  <a:lnTo>
                    <a:pt x="690751" y="356426"/>
                  </a:lnTo>
                  <a:lnTo>
                    <a:pt x="691718" y="355524"/>
                  </a:lnTo>
                  <a:lnTo>
                    <a:pt x="692684" y="354686"/>
                  </a:lnTo>
                  <a:lnTo>
                    <a:pt x="693845" y="353977"/>
                  </a:lnTo>
                  <a:lnTo>
                    <a:pt x="695069" y="353333"/>
                  </a:lnTo>
                  <a:lnTo>
                    <a:pt x="696358" y="352817"/>
                  </a:lnTo>
                  <a:lnTo>
                    <a:pt x="697711" y="352431"/>
                  </a:lnTo>
                  <a:lnTo>
                    <a:pt x="699064" y="352109"/>
                  </a:lnTo>
                  <a:lnTo>
                    <a:pt x="700546" y="351786"/>
                  </a:lnTo>
                  <a:lnTo>
                    <a:pt x="702028" y="351658"/>
                  </a:lnTo>
                  <a:lnTo>
                    <a:pt x="703575" y="351593"/>
                  </a:lnTo>
                  <a:lnTo>
                    <a:pt x="705122" y="351529"/>
                  </a:lnTo>
                  <a:lnTo>
                    <a:pt x="706668" y="351593"/>
                  </a:lnTo>
                  <a:lnTo>
                    <a:pt x="708215" y="351722"/>
                  </a:lnTo>
                  <a:lnTo>
                    <a:pt x="709761" y="351980"/>
                  </a:lnTo>
                  <a:lnTo>
                    <a:pt x="711308" y="352237"/>
                  </a:lnTo>
                  <a:lnTo>
                    <a:pt x="712855" y="352560"/>
                  </a:lnTo>
                  <a:lnTo>
                    <a:pt x="714401" y="352946"/>
                  </a:lnTo>
                  <a:lnTo>
                    <a:pt x="715819" y="353333"/>
                  </a:lnTo>
                  <a:lnTo>
                    <a:pt x="717301" y="353848"/>
                  </a:lnTo>
                  <a:lnTo>
                    <a:pt x="718654" y="354364"/>
                  </a:lnTo>
                  <a:lnTo>
                    <a:pt x="719879" y="354879"/>
                  </a:lnTo>
                  <a:lnTo>
                    <a:pt x="721168" y="355524"/>
                  </a:lnTo>
                  <a:lnTo>
                    <a:pt x="722328" y="356168"/>
                  </a:lnTo>
                  <a:lnTo>
                    <a:pt x="723423" y="356877"/>
                  </a:lnTo>
                  <a:lnTo>
                    <a:pt x="724325" y="357585"/>
                  </a:lnTo>
                  <a:lnTo>
                    <a:pt x="727032" y="359712"/>
                  </a:lnTo>
                  <a:lnTo>
                    <a:pt x="729416" y="361774"/>
                  </a:lnTo>
                  <a:lnTo>
                    <a:pt x="731736" y="363513"/>
                  </a:lnTo>
                  <a:lnTo>
                    <a:pt x="733927" y="365189"/>
                  </a:lnTo>
                  <a:lnTo>
                    <a:pt x="735087" y="365897"/>
                  </a:lnTo>
                  <a:lnTo>
                    <a:pt x="736247" y="366671"/>
                  </a:lnTo>
                  <a:lnTo>
                    <a:pt x="737471" y="367380"/>
                  </a:lnTo>
                  <a:lnTo>
                    <a:pt x="738760" y="368088"/>
                  </a:lnTo>
                  <a:lnTo>
                    <a:pt x="740178" y="368668"/>
                  </a:lnTo>
                  <a:lnTo>
                    <a:pt x="741725" y="369312"/>
                  </a:lnTo>
                  <a:lnTo>
                    <a:pt x="743336" y="369957"/>
                  </a:lnTo>
                  <a:lnTo>
                    <a:pt x="745140" y="370472"/>
                  </a:lnTo>
                  <a:lnTo>
                    <a:pt x="748426" y="371503"/>
                  </a:lnTo>
                  <a:lnTo>
                    <a:pt x="751777" y="372405"/>
                  </a:lnTo>
                  <a:lnTo>
                    <a:pt x="755064" y="373372"/>
                  </a:lnTo>
                  <a:lnTo>
                    <a:pt x="758415" y="374209"/>
                  </a:lnTo>
                  <a:lnTo>
                    <a:pt x="761766" y="375047"/>
                  </a:lnTo>
                  <a:lnTo>
                    <a:pt x="765117" y="375885"/>
                  </a:lnTo>
                  <a:lnTo>
                    <a:pt x="768532" y="376722"/>
                  </a:lnTo>
                  <a:lnTo>
                    <a:pt x="771819" y="377495"/>
                  </a:lnTo>
                  <a:lnTo>
                    <a:pt x="773945" y="378011"/>
                  </a:lnTo>
                  <a:lnTo>
                    <a:pt x="776265" y="378462"/>
                  </a:lnTo>
                  <a:lnTo>
                    <a:pt x="778843" y="378913"/>
                  </a:lnTo>
                  <a:lnTo>
                    <a:pt x="781550" y="379493"/>
                  </a:lnTo>
                  <a:lnTo>
                    <a:pt x="784321" y="379944"/>
                  </a:lnTo>
                  <a:lnTo>
                    <a:pt x="787285" y="380524"/>
                  </a:lnTo>
                  <a:lnTo>
                    <a:pt x="790249" y="381168"/>
                  </a:lnTo>
                  <a:lnTo>
                    <a:pt x="793214" y="381813"/>
                  </a:lnTo>
                  <a:lnTo>
                    <a:pt x="796178" y="382521"/>
                  </a:lnTo>
                  <a:lnTo>
                    <a:pt x="799013" y="383423"/>
                  </a:lnTo>
                  <a:lnTo>
                    <a:pt x="800367" y="383875"/>
                  </a:lnTo>
                  <a:lnTo>
                    <a:pt x="801720" y="384454"/>
                  </a:lnTo>
                  <a:lnTo>
                    <a:pt x="803073" y="384905"/>
                  </a:lnTo>
                  <a:lnTo>
                    <a:pt x="804362" y="385485"/>
                  </a:lnTo>
                  <a:lnTo>
                    <a:pt x="805586" y="386065"/>
                  </a:lnTo>
                  <a:lnTo>
                    <a:pt x="806682" y="386645"/>
                  </a:lnTo>
                  <a:lnTo>
                    <a:pt x="807777" y="387289"/>
                  </a:lnTo>
                  <a:lnTo>
                    <a:pt x="808873" y="387998"/>
                  </a:lnTo>
                  <a:lnTo>
                    <a:pt x="809775" y="388707"/>
                  </a:lnTo>
                  <a:lnTo>
                    <a:pt x="810742" y="389545"/>
                  </a:lnTo>
                  <a:lnTo>
                    <a:pt x="811515" y="390318"/>
                  </a:lnTo>
                  <a:lnTo>
                    <a:pt x="812288" y="391156"/>
                  </a:lnTo>
                  <a:lnTo>
                    <a:pt x="813706" y="393024"/>
                  </a:lnTo>
                  <a:lnTo>
                    <a:pt x="815124" y="394893"/>
                  </a:lnTo>
                  <a:lnTo>
                    <a:pt x="816477" y="396826"/>
                  </a:lnTo>
                  <a:lnTo>
                    <a:pt x="817830" y="398823"/>
                  </a:lnTo>
                  <a:lnTo>
                    <a:pt x="819248" y="400756"/>
                  </a:lnTo>
                  <a:lnTo>
                    <a:pt x="820601" y="402689"/>
                  </a:lnTo>
                  <a:lnTo>
                    <a:pt x="821954" y="404622"/>
                  </a:lnTo>
                  <a:lnTo>
                    <a:pt x="823372" y="406555"/>
                  </a:lnTo>
                  <a:lnTo>
                    <a:pt x="825950" y="410164"/>
                  </a:lnTo>
                  <a:lnTo>
                    <a:pt x="828205" y="413514"/>
                  </a:lnTo>
                  <a:lnTo>
                    <a:pt x="830074" y="416736"/>
                  </a:lnTo>
                  <a:lnTo>
                    <a:pt x="831621" y="419764"/>
                  </a:lnTo>
                  <a:lnTo>
                    <a:pt x="832910" y="422535"/>
                  </a:lnTo>
                  <a:lnTo>
                    <a:pt x="833812" y="425176"/>
                  </a:lnTo>
                  <a:lnTo>
                    <a:pt x="834521" y="427625"/>
                  </a:lnTo>
                  <a:lnTo>
                    <a:pt x="834972" y="430009"/>
                  </a:lnTo>
                  <a:lnTo>
                    <a:pt x="835165" y="432135"/>
                  </a:lnTo>
                  <a:lnTo>
                    <a:pt x="835101" y="434133"/>
                  </a:lnTo>
                  <a:lnTo>
                    <a:pt x="834907" y="436066"/>
                  </a:lnTo>
                  <a:lnTo>
                    <a:pt x="834521" y="437741"/>
                  </a:lnTo>
                  <a:lnTo>
                    <a:pt x="833941" y="439352"/>
                  </a:lnTo>
                  <a:lnTo>
                    <a:pt x="833296" y="440770"/>
                  </a:lnTo>
                  <a:lnTo>
                    <a:pt x="832394" y="442058"/>
                  </a:lnTo>
                  <a:lnTo>
                    <a:pt x="831492" y="443283"/>
                  </a:lnTo>
                  <a:lnTo>
                    <a:pt x="830461" y="444378"/>
                  </a:lnTo>
                  <a:lnTo>
                    <a:pt x="829365" y="445345"/>
                  </a:lnTo>
                  <a:lnTo>
                    <a:pt x="828270" y="446246"/>
                  </a:lnTo>
                  <a:lnTo>
                    <a:pt x="827110" y="446955"/>
                  </a:lnTo>
                  <a:lnTo>
                    <a:pt x="825885" y="447664"/>
                  </a:lnTo>
                  <a:lnTo>
                    <a:pt x="824790" y="448244"/>
                  </a:lnTo>
                  <a:lnTo>
                    <a:pt x="823630" y="448824"/>
                  </a:lnTo>
                  <a:lnTo>
                    <a:pt x="822470" y="449210"/>
                  </a:lnTo>
                  <a:lnTo>
                    <a:pt x="820472" y="449855"/>
                  </a:lnTo>
                  <a:lnTo>
                    <a:pt x="818861" y="450241"/>
                  </a:lnTo>
                  <a:lnTo>
                    <a:pt x="817766" y="450564"/>
                  </a:lnTo>
                  <a:lnTo>
                    <a:pt x="817379" y="450628"/>
                  </a:lnTo>
                  <a:lnTo>
                    <a:pt x="779294" y="445796"/>
                  </a:lnTo>
                  <a:lnTo>
                    <a:pt x="777168" y="447278"/>
                  </a:lnTo>
                  <a:lnTo>
                    <a:pt x="775170" y="448566"/>
                  </a:lnTo>
                  <a:lnTo>
                    <a:pt x="773172" y="449790"/>
                  </a:lnTo>
                  <a:lnTo>
                    <a:pt x="771368" y="450886"/>
                  </a:lnTo>
                  <a:lnTo>
                    <a:pt x="769563" y="451788"/>
                  </a:lnTo>
                  <a:lnTo>
                    <a:pt x="767759" y="452561"/>
                  </a:lnTo>
                  <a:lnTo>
                    <a:pt x="766921" y="452883"/>
                  </a:lnTo>
                  <a:lnTo>
                    <a:pt x="766019" y="453205"/>
                  </a:lnTo>
                  <a:lnTo>
                    <a:pt x="765117" y="453463"/>
                  </a:lnTo>
                  <a:lnTo>
                    <a:pt x="764279" y="453785"/>
                  </a:lnTo>
                  <a:lnTo>
                    <a:pt x="763377" y="453914"/>
                  </a:lnTo>
                  <a:lnTo>
                    <a:pt x="762475" y="454107"/>
                  </a:lnTo>
                  <a:lnTo>
                    <a:pt x="761573" y="454236"/>
                  </a:lnTo>
                  <a:lnTo>
                    <a:pt x="760671" y="454301"/>
                  </a:lnTo>
                  <a:lnTo>
                    <a:pt x="759704" y="454365"/>
                  </a:lnTo>
                  <a:lnTo>
                    <a:pt x="758673" y="454365"/>
                  </a:lnTo>
                  <a:lnTo>
                    <a:pt x="757771" y="454301"/>
                  </a:lnTo>
                  <a:lnTo>
                    <a:pt x="756740" y="454236"/>
                  </a:lnTo>
                  <a:lnTo>
                    <a:pt x="755773" y="454107"/>
                  </a:lnTo>
                  <a:lnTo>
                    <a:pt x="754678" y="453978"/>
                  </a:lnTo>
                  <a:lnTo>
                    <a:pt x="753582" y="453785"/>
                  </a:lnTo>
                  <a:lnTo>
                    <a:pt x="752486" y="453463"/>
                  </a:lnTo>
                  <a:lnTo>
                    <a:pt x="750102" y="452883"/>
                  </a:lnTo>
                  <a:lnTo>
                    <a:pt x="747653" y="452174"/>
                  </a:lnTo>
                  <a:lnTo>
                    <a:pt x="745591" y="451530"/>
                  </a:lnTo>
                  <a:lnTo>
                    <a:pt x="743593" y="451143"/>
                  </a:lnTo>
                  <a:lnTo>
                    <a:pt x="741596" y="450950"/>
                  </a:lnTo>
                  <a:lnTo>
                    <a:pt x="739533" y="450821"/>
                  </a:lnTo>
                  <a:lnTo>
                    <a:pt x="737471" y="450886"/>
                  </a:lnTo>
                  <a:lnTo>
                    <a:pt x="735409" y="451079"/>
                  </a:lnTo>
                  <a:lnTo>
                    <a:pt x="733347" y="451401"/>
                  </a:lnTo>
                  <a:lnTo>
                    <a:pt x="731221" y="451852"/>
                  </a:lnTo>
                  <a:lnTo>
                    <a:pt x="729094" y="452432"/>
                  </a:lnTo>
                  <a:lnTo>
                    <a:pt x="727032" y="453076"/>
                  </a:lnTo>
                  <a:lnTo>
                    <a:pt x="724970" y="453914"/>
                  </a:lnTo>
                  <a:lnTo>
                    <a:pt x="722843" y="454752"/>
                  </a:lnTo>
                  <a:lnTo>
                    <a:pt x="720781" y="455718"/>
                  </a:lnTo>
                  <a:lnTo>
                    <a:pt x="718719" y="456749"/>
                  </a:lnTo>
                  <a:lnTo>
                    <a:pt x="716657" y="457844"/>
                  </a:lnTo>
                  <a:lnTo>
                    <a:pt x="714659" y="459069"/>
                  </a:lnTo>
                  <a:lnTo>
                    <a:pt x="712661" y="460293"/>
                  </a:lnTo>
                  <a:lnTo>
                    <a:pt x="710664" y="461517"/>
                  </a:lnTo>
                  <a:lnTo>
                    <a:pt x="708666" y="462870"/>
                  </a:lnTo>
                  <a:lnTo>
                    <a:pt x="706733" y="464224"/>
                  </a:lnTo>
                  <a:lnTo>
                    <a:pt x="702931" y="467059"/>
                  </a:lnTo>
                  <a:lnTo>
                    <a:pt x="699322" y="469894"/>
                  </a:lnTo>
                  <a:lnTo>
                    <a:pt x="695713" y="472664"/>
                  </a:lnTo>
                  <a:lnTo>
                    <a:pt x="692427" y="475435"/>
                  </a:lnTo>
                  <a:lnTo>
                    <a:pt x="689334" y="478013"/>
                  </a:lnTo>
                  <a:lnTo>
                    <a:pt x="686434" y="480397"/>
                  </a:lnTo>
                  <a:lnTo>
                    <a:pt x="683147" y="483167"/>
                  </a:lnTo>
                  <a:lnTo>
                    <a:pt x="679732" y="486131"/>
                  </a:lnTo>
                  <a:lnTo>
                    <a:pt x="676381" y="489224"/>
                  </a:lnTo>
                  <a:lnTo>
                    <a:pt x="672965" y="492317"/>
                  </a:lnTo>
                  <a:lnTo>
                    <a:pt x="665941" y="498953"/>
                  </a:lnTo>
                  <a:lnTo>
                    <a:pt x="658659" y="505590"/>
                  </a:lnTo>
                  <a:lnTo>
                    <a:pt x="654986" y="508941"/>
                  </a:lnTo>
                  <a:lnTo>
                    <a:pt x="651248" y="512227"/>
                  </a:lnTo>
                  <a:lnTo>
                    <a:pt x="647446" y="515513"/>
                  </a:lnTo>
                  <a:lnTo>
                    <a:pt x="643644" y="518670"/>
                  </a:lnTo>
                  <a:lnTo>
                    <a:pt x="639778" y="521763"/>
                  </a:lnTo>
                  <a:lnTo>
                    <a:pt x="635782" y="524598"/>
                  </a:lnTo>
                  <a:lnTo>
                    <a:pt x="631851" y="527433"/>
                  </a:lnTo>
                  <a:lnTo>
                    <a:pt x="627792" y="530011"/>
                  </a:lnTo>
                  <a:lnTo>
                    <a:pt x="623796" y="532395"/>
                  </a:lnTo>
                  <a:lnTo>
                    <a:pt x="619672" y="534585"/>
                  </a:lnTo>
                  <a:lnTo>
                    <a:pt x="615548" y="536518"/>
                  </a:lnTo>
                  <a:lnTo>
                    <a:pt x="611359" y="538129"/>
                  </a:lnTo>
                  <a:lnTo>
                    <a:pt x="607106" y="539482"/>
                  </a:lnTo>
                  <a:lnTo>
                    <a:pt x="602853" y="540513"/>
                  </a:lnTo>
                  <a:lnTo>
                    <a:pt x="598535" y="541222"/>
                  </a:lnTo>
                  <a:lnTo>
                    <a:pt x="594153" y="541480"/>
                  </a:lnTo>
                  <a:lnTo>
                    <a:pt x="589707" y="541415"/>
                  </a:lnTo>
                  <a:lnTo>
                    <a:pt x="585325" y="540964"/>
                  </a:lnTo>
                  <a:lnTo>
                    <a:pt x="580878" y="539998"/>
                  </a:lnTo>
                  <a:lnTo>
                    <a:pt x="576303" y="538580"/>
                  </a:lnTo>
                  <a:lnTo>
                    <a:pt x="571792" y="536712"/>
                  </a:lnTo>
                  <a:lnTo>
                    <a:pt x="567152" y="534263"/>
                  </a:lnTo>
                  <a:lnTo>
                    <a:pt x="562576" y="531364"/>
                  </a:lnTo>
                  <a:lnTo>
                    <a:pt x="557937" y="527820"/>
                  </a:lnTo>
                  <a:lnTo>
                    <a:pt x="555037" y="525565"/>
                  </a:lnTo>
                  <a:lnTo>
                    <a:pt x="552137" y="523309"/>
                  </a:lnTo>
                  <a:lnTo>
                    <a:pt x="549237" y="520990"/>
                  </a:lnTo>
                  <a:lnTo>
                    <a:pt x="546402" y="518735"/>
                  </a:lnTo>
                  <a:lnTo>
                    <a:pt x="543437" y="516415"/>
                  </a:lnTo>
                  <a:lnTo>
                    <a:pt x="540537" y="514160"/>
                  </a:lnTo>
                  <a:lnTo>
                    <a:pt x="537638" y="511905"/>
                  </a:lnTo>
                  <a:lnTo>
                    <a:pt x="534738" y="509585"/>
                  </a:lnTo>
                  <a:lnTo>
                    <a:pt x="531967" y="507265"/>
                  </a:lnTo>
                  <a:lnTo>
                    <a:pt x="529067" y="504881"/>
                  </a:lnTo>
                  <a:lnTo>
                    <a:pt x="526296" y="502562"/>
                  </a:lnTo>
                  <a:lnTo>
                    <a:pt x="523460" y="500113"/>
                  </a:lnTo>
                  <a:lnTo>
                    <a:pt x="520754" y="497665"/>
                  </a:lnTo>
                  <a:lnTo>
                    <a:pt x="518047" y="495152"/>
                  </a:lnTo>
                  <a:lnTo>
                    <a:pt x="515405" y="492639"/>
                  </a:lnTo>
                  <a:lnTo>
                    <a:pt x="512827" y="489997"/>
                  </a:lnTo>
                  <a:lnTo>
                    <a:pt x="508768" y="485744"/>
                  </a:lnTo>
                  <a:lnTo>
                    <a:pt x="504644" y="481363"/>
                  </a:lnTo>
                  <a:lnTo>
                    <a:pt x="502452" y="479043"/>
                  </a:lnTo>
                  <a:lnTo>
                    <a:pt x="500261" y="476853"/>
                  </a:lnTo>
                  <a:lnTo>
                    <a:pt x="497941" y="474726"/>
                  </a:lnTo>
                  <a:lnTo>
                    <a:pt x="495686" y="472600"/>
                  </a:lnTo>
                  <a:lnTo>
                    <a:pt x="494462" y="471698"/>
                  </a:lnTo>
                  <a:lnTo>
                    <a:pt x="493302" y="470667"/>
                  </a:lnTo>
                  <a:lnTo>
                    <a:pt x="492077" y="469700"/>
                  </a:lnTo>
                  <a:lnTo>
                    <a:pt x="490788" y="468863"/>
                  </a:lnTo>
                  <a:lnTo>
                    <a:pt x="489500" y="468025"/>
                  </a:lnTo>
                  <a:lnTo>
                    <a:pt x="488211" y="467252"/>
                  </a:lnTo>
                  <a:lnTo>
                    <a:pt x="486922" y="466479"/>
                  </a:lnTo>
                  <a:lnTo>
                    <a:pt x="485633" y="465834"/>
                  </a:lnTo>
                  <a:lnTo>
                    <a:pt x="484215" y="465190"/>
                  </a:lnTo>
                  <a:lnTo>
                    <a:pt x="482862" y="464610"/>
                  </a:lnTo>
                  <a:lnTo>
                    <a:pt x="481444" y="464095"/>
                  </a:lnTo>
                  <a:lnTo>
                    <a:pt x="480027" y="463708"/>
                  </a:lnTo>
                  <a:lnTo>
                    <a:pt x="478544" y="463386"/>
                  </a:lnTo>
                  <a:lnTo>
                    <a:pt x="477191" y="463064"/>
                  </a:lnTo>
                  <a:lnTo>
                    <a:pt x="475645" y="462870"/>
                  </a:lnTo>
                  <a:lnTo>
                    <a:pt x="474098" y="462742"/>
                  </a:lnTo>
                  <a:lnTo>
                    <a:pt x="473196" y="462742"/>
                  </a:lnTo>
                  <a:lnTo>
                    <a:pt x="472358" y="462806"/>
                  </a:lnTo>
                  <a:lnTo>
                    <a:pt x="471520" y="462999"/>
                  </a:lnTo>
                  <a:lnTo>
                    <a:pt x="470747" y="463257"/>
                  </a:lnTo>
                  <a:lnTo>
                    <a:pt x="469329" y="463901"/>
                  </a:lnTo>
                  <a:lnTo>
                    <a:pt x="467912" y="464610"/>
                  </a:lnTo>
                  <a:lnTo>
                    <a:pt x="467138" y="464997"/>
                  </a:lnTo>
                  <a:lnTo>
                    <a:pt x="466429" y="465319"/>
                  </a:lnTo>
                  <a:lnTo>
                    <a:pt x="465656" y="465577"/>
                  </a:lnTo>
                  <a:lnTo>
                    <a:pt x="464883" y="465770"/>
                  </a:lnTo>
                  <a:lnTo>
                    <a:pt x="464045" y="465899"/>
                  </a:lnTo>
                  <a:lnTo>
                    <a:pt x="463143" y="465963"/>
                  </a:lnTo>
                  <a:lnTo>
                    <a:pt x="462176" y="465899"/>
                  </a:lnTo>
                  <a:lnTo>
                    <a:pt x="461145" y="465705"/>
                  </a:lnTo>
                  <a:lnTo>
                    <a:pt x="460243" y="465448"/>
                  </a:lnTo>
                  <a:lnTo>
                    <a:pt x="459341" y="465190"/>
                  </a:lnTo>
                  <a:lnTo>
                    <a:pt x="458503" y="464803"/>
                  </a:lnTo>
                  <a:lnTo>
                    <a:pt x="457601" y="464352"/>
                  </a:lnTo>
                  <a:lnTo>
                    <a:pt x="456763" y="463966"/>
                  </a:lnTo>
                  <a:lnTo>
                    <a:pt x="455861" y="463450"/>
                  </a:lnTo>
                  <a:lnTo>
                    <a:pt x="455023" y="462870"/>
                  </a:lnTo>
                  <a:lnTo>
                    <a:pt x="454121" y="462355"/>
                  </a:lnTo>
                  <a:lnTo>
                    <a:pt x="452510" y="461195"/>
                  </a:lnTo>
                  <a:lnTo>
                    <a:pt x="450899" y="459971"/>
                  </a:lnTo>
                  <a:lnTo>
                    <a:pt x="449353" y="458811"/>
                  </a:lnTo>
                  <a:lnTo>
                    <a:pt x="447870" y="457716"/>
                  </a:lnTo>
                  <a:lnTo>
                    <a:pt x="446388" y="456556"/>
                  </a:lnTo>
                  <a:lnTo>
                    <a:pt x="444906" y="455460"/>
                  </a:lnTo>
                  <a:lnTo>
                    <a:pt x="443553" y="454236"/>
                  </a:lnTo>
                  <a:lnTo>
                    <a:pt x="442135" y="453012"/>
                  </a:lnTo>
                  <a:lnTo>
                    <a:pt x="439364" y="450564"/>
                  </a:lnTo>
                  <a:lnTo>
                    <a:pt x="436593" y="448051"/>
                  </a:lnTo>
                  <a:lnTo>
                    <a:pt x="433951" y="445602"/>
                  </a:lnTo>
                  <a:lnTo>
                    <a:pt x="431180" y="443089"/>
                  </a:lnTo>
                  <a:lnTo>
                    <a:pt x="428344" y="440641"/>
                  </a:lnTo>
                  <a:lnTo>
                    <a:pt x="425444" y="438386"/>
                  </a:lnTo>
                  <a:lnTo>
                    <a:pt x="422094" y="435679"/>
                  </a:lnTo>
                  <a:lnTo>
                    <a:pt x="418678" y="433102"/>
                  </a:lnTo>
                  <a:lnTo>
                    <a:pt x="415198" y="430396"/>
                  </a:lnTo>
                  <a:lnTo>
                    <a:pt x="411783" y="427818"/>
                  </a:lnTo>
                  <a:lnTo>
                    <a:pt x="408303" y="425241"/>
                  </a:lnTo>
                  <a:lnTo>
                    <a:pt x="404823" y="422664"/>
                  </a:lnTo>
                  <a:lnTo>
                    <a:pt x="401214" y="420151"/>
                  </a:lnTo>
                  <a:lnTo>
                    <a:pt x="397670" y="417702"/>
                  </a:lnTo>
                  <a:lnTo>
                    <a:pt x="394061" y="415318"/>
                  </a:lnTo>
                  <a:lnTo>
                    <a:pt x="390453" y="412934"/>
                  </a:lnTo>
                  <a:lnTo>
                    <a:pt x="386715" y="410679"/>
                  </a:lnTo>
                  <a:lnTo>
                    <a:pt x="383042" y="408488"/>
                  </a:lnTo>
                  <a:lnTo>
                    <a:pt x="379304" y="406297"/>
                  </a:lnTo>
                  <a:lnTo>
                    <a:pt x="375438" y="404300"/>
                  </a:lnTo>
                  <a:lnTo>
                    <a:pt x="371571" y="402367"/>
                  </a:lnTo>
                  <a:lnTo>
                    <a:pt x="367576" y="400499"/>
                  </a:lnTo>
                  <a:lnTo>
                    <a:pt x="362743" y="404493"/>
                  </a:lnTo>
                  <a:lnTo>
                    <a:pt x="357845" y="408488"/>
                  </a:lnTo>
                  <a:lnTo>
                    <a:pt x="352883" y="412419"/>
                  </a:lnTo>
                  <a:lnTo>
                    <a:pt x="347921" y="416349"/>
                  </a:lnTo>
                  <a:lnTo>
                    <a:pt x="342959" y="420280"/>
                  </a:lnTo>
                  <a:lnTo>
                    <a:pt x="337933" y="424210"/>
                  </a:lnTo>
                  <a:lnTo>
                    <a:pt x="332971" y="428269"/>
                  </a:lnTo>
                  <a:lnTo>
                    <a:pt x="328008" y="432200"/>
                  </a:lnTo>
                  <a:lnTo>
                    <a:pt x="323047" y="436324"/>
                  </a:lnTo>
                  <a:lnTo>
                    <a:pt x="318149" y="440319"/>
                  </a:lnTo>
                  <a:lnTo>
                    <a:pt x="313252" y="444442"/>
                  </a:lnTo>
                  <a:lnTo>
                    <a:pt x="308418" y="448566"/>
                  </a:lnTo>
                  <a:lnTo>
                    <a:pt x="303714" y="452819"/>
                  </a:lnTo>
                  <a:lnTo>
                    <a:pt x="299010" y="457072"/>
                  </a:lnTo>
                  <a:lnTo>
                    <a:pt x="294434" y="461324"/>
                  </a:lnTo>
                  <a:lnTo>
                    <a:pt x="289923" y="465770"/>
                  </a:lnTo>
                  <a:lnTo>
                    <a:pt x="288312" y="467445"/>
                  </a:lnTo>
                  <a:lnTo>
                    <a:pt x="286766" y="469249"/>
                  </a:lnTo>
                  <a:lnTo>
                    <a:pt x="285219" y="471118"/>
                  </a:lnTo>
                  <a:lnTo>
                    <a:pt x="283801" y="473115"/>
                  </a:lnTo>
                  <a:lnTo>
                    <a:pt x="281030" y="477175"/>
                  </a:lnTo>
                  <a:lnTo>
                    <a:pt x="278195" y="481299"/>
                  </a:lnTo>
                  <a:lnTo>
                    <a:pt x="276777" y="483296"/>
                  </a:lnTo>
                  <a:lnTo>
                    <a:pt x="275359" y="485293"/>
                  </a:lnTo>
                  <a:lnTo>
                    <a:pt x="273813" y="487226"/>
                  </a:lnTo>
                  <a:lnTo>
                    <a:pt x="272266" y="489095"/>
                  </a:lnTo>
                  <a:lnTo>
                    <a:pt x="271558" y="489997"/>
                  </a:lnTo>
                  <a:lnTo>
                    <a:pt x="270655" y="490963"/>
                  </a:lnTo>
                  <a:lnTo>
                    <a:pt x="269882" y="491737"/>
                  </a:lnTo>
                  <a:lnTo>
                    <a:pt x="268980" y="492639"/>
                  </a:lnTo>
                  <a:lnTo>
                    <a:pt x="268142" y="493347"/>
                  </a:lnTo>
                  <a:lnTo>
                    <a:pt x="267240" y="494185"/>
                  </a:lnTo>
                  <a:lnTo>
                    <a:pt x="266273" y="494830"/>
                  </a:lnTo>
                  <a:lnTo>
                    <a:pt x="265371" y="495538"/>
                  </a:lnTo>
                  <a:lnTo>
                    <a:pt x="264082" y="496376"/>
                  </a:lnTo>
                  <a:lnTo>
                    <a:pt x="262793" y="497020"/>
                  </a:lnTo>
                  <a:lnTo>
                    <a:pt x="261698" y="497536"/>
                  </a:lnTo>
                  <a:lnTo>
                    <a:pt x="260474" y="497922"/>
                  </a:lnTo>
                  <a:lnTo>
                    <a:pt x="259314" y="498180"/>
                  </a:lnTo>
                  <a:lnTo>
                    <a:pt x="258218" y="498245"/>
                  </a:lnTo>
                  <a:lnTo>
                    <a:pt x="257187" y="498245"/>
                  </a:lnTo>
                  <a:lnTo>
                    <a:pt x="256156" y="498180"/>
                  </a:lnTo>
                  <a:lnTo>
                    <a:pt x="255125" y="497987"/>
                  </a:lnTo>
                  <a:lnTo>
                    <a:pt x="254094" y="497729"/>
                  </a:lnTo>
                  <a:lnTo>
                    <a:pt x="253063" y="497343"/>
                  </a:lnTo>
                  <a:lnTo>
                    <a:pt x="252160" y="496892"/>
                  </a:lnTo>
                  <a:lnTo>
                    <a:pt x="251129" y="496376"/>
                  </a:lnTo>
                  <a:lnTo>
                    <a:pt x="250163" y="495861"/>
                  </a:lnTo>
                  <a:lnTo>
                    <a:pt x="249196" y="495216"/>
                  </a:lnTo>
                  <a:lnTo>
                    <a:pt x="248165" y="494572"/>
                  </a:lnTo>
                  <a:lnTo>
                    <a:pt x="246232" y="493219"/>
                  </a:lnTo>
                  <a:lnTo>
                    <a:pt x="244170" y="491801"/>
                  </a:lnTo>
                  <a:lnTo>
                    <a:pt x="243139" y="491157"/>
                  </a:lnTo>
                  <a:lnTo>
                    <a:pt x="242043" y="490448"/>
                  </a:lnTo>
                  <a:lnTo>
                    <a:pt x="240948" y="489804"/>
                  </a:lnTo>
                  <a:lnTo>
                    <a:pt x="239788" y="489224"/>
                  </a:lnTo>
                  <a:lnTo>
                    <a:pt x="238628" y="488644"/>
                  </a:lnTo>
                  <a:lnTo>
                    <a:pt x="237468" y="488128"/>
                  </a:lnTo>
                  <a:lnTo>
                    <a:pt x="236179" y="487677"/>
                  </a:lnTo>
                  <a:lnTo>
                    <a:pt x="234890" y="487226"/>
                  </a:lnTo>
                  <a:lnTo>
                    <a:pt x="233537" y="486904"/>
                  </a:lnTo>
                  <a:lnTo>
                    <a:pt x="232119" y="486711"/>
                  </a:lnTo>
                  <a:lnTo>
                    <a:pt x="230701" y="486582"/>
                  </a:lnTo>
                  <a:lnTo>
                    <a:pt x="229155" y="486518"/>
                  </a:lnTo>
                  <a:lnTo>
                    <a:pt x="228253" y="486582"/>
                  </a:lnTo>
                  <a:lnTo>
                    <a:pt x="227222" y="486711"/>
                  </a:lnTo>
                  <a:lnTo>
                    <a:pt x="226320" y="486840"/>
                  </a:lnTo>
                  <a:lnTo>
                    <a:pt x="225288" y="487098"/>
                  </a:lnTo>
                  <a:lnTo>
                    <a:pt x="224257" y="487355"/>
                  </a:lnTo>
                  <a:lnTo>
                    <a:pt x="223291" y="487742"/>
                  </a:lnTo>
                  <a:lnTo>
                    <a:pt x="222260" y="488128"/>
                  </a:lnTo>
                  <a:lnTo>
                    <a:pt x="221229" y="488579"/>
                  </a:lnTo>
                  <a:lnTo>
                    <a:pt x="219231" y="489610"/>
                  </a:lnTo>
                  <a:lnTo>
                    <a:pt x="217233" y="490706"/>
                  </a:lnTo>
                  <a:lnTo>
                    <a:pt x="215236" y="491994"/>
                  </a:lnTo>
                  <a:lnTo>
                    <a:pt x="213173" y="493347"/>
                  </a:lnTo>
                  <a:lnTo>
                    <a:pt x="209242" y="496247"/>
                  </a:lnTo>
                  <a:lnTo>
                    <a:pt x="205440" y="499147"/>
                  </a:lnTo>
                  <a:lnTo>
                    <a:pt x="203636" y="500564"/>
                  </a:lnTo>
                  <a:lnTo>
                    <a:pt x="201832" y="501788"/>
                  </a:lnTo>
                  <a:lnTo>
                    <a:pt x="200091" y="503013"/>
                  </a:lnTo>
                  <a:lnTo>
                    <a:pt x="198481" y="504108"/>
                  </a:lnTo>
                  <a:lnTo>
                    <a:pt x="198545" y="504688"/>
                  </a:lnTo>
                  <a:lnTo>
                    <a:pt x="198932" y="506428"/>
                  </a:lnTo>
                  <a:lnTo>
                    <a:pt x="199383" y="509134"/>
                  </a:lnTo>
                  <a:lnTo>
                    <a:pt x="199963" y="512613"/>
                  </a:lnTo>
                  <a:lnTo>
                    <a:pt x="200736" y="516802"/>
                  </a:lnTo>
                  <a:lnTo>
                    <a:pt x="201509" y="521376"/>
                  </a:lnTo>
                  <a:lnTo>
                    <a:pt x="202411" y="526467"/>
                  </a:lnTo>
                  <a:lnTo>
                    <a:pt x="203314" y="531750"/>
                  </a:lnTo>
                  <a:lnTo>
                    <a:pt x="204280" y="537034"/>
                  </a:lnTo>
                  <a:lnTo>
                    <a:pt x="205118" y="542253"/>
                  </a:lnTo>
                  <a:lnTo>
                    <a:pt x="206020" y="547214"/>
                  </a:lnTo>
                  <a:lnTo>
                    <a:pt x="206729" y="551854"/>
                  </a:lnTo>
                  <a:lnTo>
                    <a:pt x="207438" y="555913"/>
                  </a:lnTo>
                  <a:lnTo>
                    <a:pt x="207953" y="559328"/>
                  </a:lnTo>
                  <a:lnTo>
                    <a:pt x="208276" y="561905"/>
                  </a:lnTo>
                  <a:lnTo>
                    <a:pt x="208533" y="563452"/>
                  </a:lnTo>
                  <a:lnTo>
                    <a:pt x="208791" y="567382"/>
                  </a:lnTo>
                  <a:lnTo>
                    <a:pt x="208920" y="571055"/>
                  </a:lnTo>
                  <a:lnTo>
                    <a:pt x="209113" y="574599"/>
                  </a:lnTo>
                  <a:lnTo>
                    <a:pt x="209178" y="578078"/>
                  </a:lnTo>
                  <a:lnTo>
                    <a:pt x="209178" y="581300"/>
                  </a:lnTo>
                  <a:lnTo>
                    <a:pt x="209113" y="584521"/>
                  </a:lnTo>
                  <a:lnTo>
                    <a:pt x="208984" y="587550"/>
                  </a:lnTo>
                  <a:lnTo>
                    <a:pt x="208727" y="590643"/>
                  </a:lnTo>
                  <a:lnTo>
                    <a:pt x="208340" y="593671"/>
                  </a:lnTo>
                  <a:lnTo>
                    <a:pt x="207953" y="596764"/>
                  </a:lnTo>
                  <a:lnTo>
                    <a:pt x="207374" y="599921"/>
                  </a:lnTo>
                  <a:lnTo>
                    <a:pt x="206665" y="603078"/>
                  </a:lnTo>
                  <a:lnTo>
                    <a:pt x="205891" y="606429"/>
                  </a:lnTo>
                  <a:lnTo>
                    <a:pt x="204860" y="609844"/>
                  </a:lnTo>
                  <a:lnTo>
                    <a:pt x="203829" y="613517"/>
                  </a:lnTo>
                  <a:lnTo>
                    <a:pt x="202540" y="617318"/>
                  </a:lnTo>
                  <a:lnTo>
                    <a:pt x="201252" y="621120"/>
                  </a:lnTo>
                  <a:lnTo>
                    <a:pt x="199963" y="624986"/>
                  </a:lnTo>
                  <a:lnTo>
                    <a:pt x="198674" y="628788"/>
                  </a:lnTo>
                  <a:lnTo>
                    <a:pt x="197514" y="632589"/>
                  </a:lnTo>
                  <a:lnTo>
                    <a:pt x="196354" y="636455"/>
                  </a:lnTo>
                  <a:lnTo>
                    <a:pt x="195194" y="640321"/>
                  </a:lnTo>
                  <a:lnTo>
                    <a:pt x="194228" y="644252"/>
                  </a:lnTo>
                  <a:lnTo>
                    <a:pt x="193196" y="648118"/>
                  </a:lnTo>
                  <a:lnTo>
                    <a:pt x="192359" y="651984"/>
                  </a:lnTo>
                  <a:lnTo>
                    <a:pt x="191456" y="655914"/>
                  </a:lnTo>
                  <a:lnTo>
                    <a:pt x="190748" y="659845"/>
                  </a:lnTo>
                  <a:lnTo>
                    <a:pt x="190039" y="663840"/>
                  </a:lnTo>
                  <a:lnTo>
                    <a:pt x="189459" y="667770"/>
                  </a:lnTo>
                  <a:lnTo>
                    <a:pt x="188943" y="671829"/>
                  </a:lnTo>
                  <a:lnTo>
                    <a:pt x="188556" y="675824"/>
                  </a:lnTo>
                  <a:lnTo>
                    <a:pt x="188299" y="679884"/>
                  </a:lnTo>
                  <a:lnTo>
                    <a:pt x="188170" y="683428"/>
                  </a:lnTo>
                  <a:lnTo>
                    <a:pt x="188041" y="687036"/>
                  </a:lnTo>
                  <a:lnTo>
                    <a:pt x="187912" y="690580"/>
                  </a:lnTo>
                  <a:lnTo>
                    <a:pt x="187783" y="694252"/>
                  </a:lnTo>
                  <a:lnTo>
                    <a:pt x="187719" y="697861"/>
                  </a:lnTo>
                  <a:lnTo>
                    <a:pt x="187654" y="701405"/>
                  </a:lnTo>
                  <a:lnTo>
                    <a:pt x="187590" y="705013"/>
                  </a:lnTo>
                  <a:lnTo>
                    <a:pt x="187525" y="708557"/>
                  </a:lnTo>
                  <a:lnTo>
                    <a:pt x="187525" y="712230"/>
                  </a:lnTo>
                  <a:lnTo>
                    <a:pt x="187525" y="715773"/>
                  </a:lnTo>
                  <a:lnTo>
                    <a:pt x="187525" y="719382"/>
                  </a:lnTo>
                  <a:lnTo>
                    <a:pt x="187525" y="722926"/>
                  </a:lnTo>
                  <a:lnTo>
                    <a:pt x="187590" y="726598"/>
                  </a:lnTo>
                  <a:lnTo>
                    <a:pt x="187654" y="730142"/>
                  </a:lnTo>
                  <a:lnTo>
                    <a:pt x="187719" y="733751"/>
                  </a:lnTo>
                  <a:lnTo>
                    <a:pt x="187783" y="737294"/>
                  </a:lnTo>
                  <a:lnTo>
                    <a:pt x="188943" y="741676"/>
                  </a:lnTo>
                  <a:lnTo>
                    <a:pt x="189974" y="745800"/>
                  </a:lnTo>
                  <a:lnTo>
                    <a:pt x="190812" y="749666"/>
                  </a:lnTo>
                  <a:lnTo>
                    <a:pt x="191327" y="753338"/>
                  </a:lnTo>
                  <a:lnTo>
                    <a:pt x="191714" y="756818"/>
                  </a:lnTo>
                  <a:lnTo>
                    <a:pt x="191908" y="760039"/>
                  </a:lnTo>
                  <a:lnTo>
                    <a:pt x="191972" y="763132"/>
                  </a:lnTo>
                  <a:lnTo>
                    <a:pt x="191908" y="765967"/>
                  </a:lnTo>
                  <a:lnTo>
                    <a:pt x="191650" y="768674"/>
                  </a:lnTo>
                  <a:lnTo>
                    <a:pt x="191327" y="771122"/>
                  </a:lnTo>
                  <a:lnTo>
                    <a:pt x="190876" y="773442"/>
                  </a:lnTo>
                  <a:lnTo>
                    <a:pt x="190232" y="775568"/>
                  </a:lnTo>
                  <a:lnTo>
                    <a:pt x="189588" y="777565"/>
                  </a:lnTo>
                  <a:lnTo>
                    <a:pt x="188814" y="779370"/>
                  </a:lnTo>
                  <a:lnTo>
                    <a:pt x="188041" y="781045"/>
                  </a:lnTo>
                  <a:lnTo>
                    <a:pt x="187139" y="782527"/>
                  </a:lnTo>
                  <a:lnTo>
                    <a:pt x="186237" y="783944"/>
                  </a:lnTo>
                  <a:lnTo>
                    <a:pt x="185270" y="785169"/>
                  </a:lnTo>
                  <a:lnTo>
                    <a:pt x="184368" y="786328"/>
                  </a:lnTo>
                  <a:lnTo>
                    <a:pt x="183401" y="787295"/>
                  </a:lnTo>
                  <a:lnTo>
                    <a:pt x="182370" y="788197"/>
                  </a:lnTo>
                  <a:lnTo>
                    <a:pt x="181468" y="788970"/>
                  </a:lnTo>
                  <a:lnTo>
                    <a:pt x="180566" y="789679"/>
                  </a:lnTo>
                  <a:lnTo>
                    <a:pt x="179728" y="790195"/>
                  </a:lnTo>
                  <a:lnTo>
                    <a:pt x="178890" y="790710"/>
                  </a:lnTo>
                  <a:lnTo>
                    <a:pt x="178181" y="791032"/>
                  </a:lnTo>
                  <a:lnTo>
                    <a:pt x="177473" y="791419"/>
                  </a:lnTo>
                  <a:lnTo>
                    <a:pt x="176957" y="791676"/>
                  </a:lnTo>
                  <a:lnTo>
                    <a:pt x="176119" y="791999"/>
                  </a:lnTo>
                  <a:lnTo>
                    <a:pt x="175861" y="792063"/>
                  </a:lnTo>
                  <a:lnTo>
                    <a:pt x="171222" y="791805"/>
                  </a:lnTo>
                  <a:lnTo>
                    <a:pt x="166711" y="791548"/>
                  </a:lnTo>
                  <a:lnTo>
                    <a:pt x="162071" y="791354"/>
                  </a:lnTo>
                  <a:lnTo>
                    <a:pt x="157496" y="791225"/>
                  </a:lnTo>
                  <a:lnTo>
                    <a:pt x="148216" y="790903"/>
                  </a:lnTo>
                  <a:lnTo>
                    <a:pt x="138937" y="790710"/>
                  </a:lnTo>
                  <a:lnTo>
                    <a:pt x="129657" y="790581"/>
                  </a:lnTo>
                  <a:lnTo>
                    <a:pt x="120377" y="790452"/>
                  </a:lnTo>
                  <a:lnTo>
                    <a:pt x="111098" y="790195"/>
                  </a:lnTo>
                  <a:lnTo>
                    <a:pt x="101818" y="789872"/>
                  </a:lnTo>
                  <a:lnTo>
                    <a:pt x="97178" y="789615"/>
                  </a:lnTo>
                  <a:lnTo>
                    <a:pt x="92603" y="789292"/>
                  </a:lnTo>
                  <a:lnTo>
                    <a:pt x="88027" y="788970"/>
                  </a:lnTo>
                  <a:lnTo>
                    <a:pt x="83452" y="788584"/>
                  </a:lnTo>
                  <a:lnTo>
                    <a:pt x="78877" y="788133"/>
                  </a:lnTo>
                  <a:lnTo>
                    <a:pt x="74301" y="787553"/>
                  </a:lnTo>
                  <a:lnTo>
                    <a:pt x="69726" y="786973"/>
                  </a:lnTo>
                  <a:lnTo>
                    <a:pt x="65279" y="786328"/>
                  </a:lnTo>
                  <a:lnTo>
                    <a:pt x="60768" y="785555"/>
                  </a:lnTo>
                  <a:lnTo>
                    <a:pt x="56258" y="784718"/>
                  </a:lnTo>
                  <a:lnTo>
                    <a:pt x="51811" y="783751"/>
                  </a:lnTo>
                  <a:lnTo>
                    <a:pt x="47365" y="782656"/>
                  </a:lnTo>
                  <a:lnTo>
                    <a:pt x="42983" y="781560"/>
                  </a:lnTo>
                  <a:lnTo>
                    <a:pt x="38601" y="780272"/>
                  </a:lnTo>
                  <a:lnTo>
                    <a:pt x="34218" y="778854"/>
                  </a:lnTo>
                  <a:lnTo>
                    <a:pt x="29901" y="777308"/>
                  </a:lnTo>
                  <a:lnTo>
                    <a:pt x="27259" y="776277"/>
                  </a:lnTo>
                  <a:lnTo>
                    <a:pt x="24230" y="775052"/>
                  </a:lnTo>
                  <a:lnTo>
                    <a:pt x="21008" y="773699"/>
                  </a:lnTo>
                  <a:lnTo>
                    <a:pt x="17722" y="772089"/>
                  </a:lnTo>
                  <a:lnTo>
                    <a:pt x="16046" y="771187"/>
                  </a:lnTo>
                  <a:lnTo>
                    <a:pt x="14371" y="770349"/>
                  </a:lnTo>
                  <a:lnTo>
                    <a:pt x="12760" y="769382"/>
                  </a:lnTo>
                  <a:lnTo>
                    <a:pt x="11149" y="768416"/>
                  </a:lnTo>
                  <a:lnTo>
                    <a:pt x="9602" y="767449"/>
                  </a:lnTo>
                  <a:lnTo>
                    <a:pt x="8184" y="766419"/>
                  </a:lnTo>
                  <a:lnTo>
                    <a:pt x="6766" y="765388"/>
                  </a:lnTo>
                  <a:lnTo>
                    <a:pt x="5413" y="764228"/>
                  </a:lnTo>
                  <a:lnTo>
                    <a:pt x="4318" y="763068"/>
                  </a:lnTo>
                  <a:lnTo>
                    <a:pt x="3222" y="761908"/>
                  </a:lnTo>
                  <a:lnTo>
                    <a:pt x="2255" y="760748"/>
                  </a:lnTo>
                  <a:lnTo>
                    <a:pt x="1482" y="759524"/>
                  </a:lnTo>
                  <a:lnTo>
                    <a:pt x="838" y="758300"/>
                  </a:lnTo>
                  <a:lnTo>
                    <a:pt x="322" y="757011"/>
                  </a:lnTo>
                  <a:lnTo>
                    <a:pt x="64" y="755722"/>
                  </a:lnTo>
                  <a:lnTo>
                    <a:pt x="0" y="754434"/>
                  </a:lnTo>
                  <a:lnTo>
                    <a:pt x="129" y="753080"/>
                  </a:lnTo>
                  <a:lnTo>
                    <a:pt x="451" y="751727"/>
                  </a:lnTo>
                  <a:lnTo>
                    <a:pt x="1096" y="750310"/>
                  </a:lnTo>
                  <a:lnTo>
                    <a:pt x="1933" y="748892"/>
                  </a:lnTo>
                  <a:lnTo>
                    <a:pt x="3093" y="747539"/>
                  </a:lnTo>
                  <a:lnTo>
                    <a:pt x="4511" y="746122"/>
                  </a:lnTo>
                  <a:lnTo>
                    <a:pt x="6187" y="744704"/>
                  </a:lnTo>
                  <a:lnTo>
                    <a:pt x="8184" y="743222"/>
                  </a:lnTo>
                  <a:lnTo>
                    <a:pt x="9731" y="742191"/>
                  </a:lnTo>
                  <a:lnTo>
                    <a:pt x="11277" y="741289"/>
                  </a:lnTo>
                  <a:lnTo>
                    <a:pt x="12953" y="740387"/>
                  </a:lnTo>
                  <a:lnTo>
                    <a:pt x="14564" y="739549"/>
                  </a:lnTo>
                  <a:lnTo>
                    <a:pt x="16304" y="738712"/>
                  </a:lnTo>
                  <a:lnTo>
                    <a:pt x="18044" y="738003"/>
                  </a:lnTo>
                  <a:lnTo>
                    <a:pt x="19784" y="737230"/>
                  </a:lnTo>
                  <a:lnTo>
                    <a:pt x="21588" y="736586"/>
                  </a:lnTo>
                  <a:lnTo>
                    <a:pt x="23457" y="735941"/>
                  </a:lnTo>
                  <a:lnTo>
                    <a:pt x="25326" y="735361"/>
                  </a:lnTo>
                  <a:lnTo>
                    <a:pt x="27194" y="734781"/>
                  </a:lnTo>
                  <a:lnTo>
                    <a:pt x="29063" y="734202"/>
                  </a:lnTo>
                  <a:lnTo>
                    <a:pt x="32865" y="733300"/>
                  </a:lnTo>
                  <a:lnTo>
                    <a:pt x="36796" y="732333"/>
                  </a:lnTo>
                  <a:lnTo>
                    <a:pt x="40663" y="731624"/>
                  </a:lnTo>
                  <a:lnTo>
                    <a:pt x="44658" y="730851"/>
                  </a:lnTo>
                  <a:lnTo>
                    <a:pt x="48525" y="730142"/>
                  </a:lnTo>
                  <a:lnTo>
                    <a:pt x="52456" y="729498"/>
                  </a:lnTo>
                  <a:lnTo>
                    <a:pt x="56258" y="728853"/>
                  </a:lnTo>
                  <a:lnTo>
                    <a:pt x="59995" y="728274"/>
                  </a:lnTo>
                  <a:lnTo>
                    <a:pt x="63733" y="727565"/>
                  </a:lnTo>
                  <a:lnTo>
                    <a:pt x="67342" y="726920"/>
                  </a:lnTo>
                  <a:lnTo>
                    <a:pt x="69533" y="726341"/>
                  </a:lnTo>
                  <a:lnTo>
                    <a:pt x="71788" y="725696"/>
                  </a:lnTo>
                  <a:lnTo>
                    <a:pt x="74044" y="724987"/>
                  </a:lnTo>
                  <a:lnTo>
                    <a:pt x="76235" y="724150"/>
                  </a:lnTo>
                  <a:lnTo>
                    <a:pt x="78490" y="723312"/>
                  </a:lnTo>
                  <a:lnTo>
                    <a:pt x="80681" y="722281"/>
                  </a:lnTo>
                  <a:lnTo>
                    <a:pt x="82936" y="721250"/>
                  </a:lnTo>
                  <a:lnTo>
                    <a:pt x="85128" y="720219"/>
                  </a:lnTo>
                  <a:lnTo>
                    <a:pt x="89509" y="717900"/>
                  </a:lnTo>
                  <a:lnTo>
                    <a:pt x="93698" y="715644"/>
                  </a:lnTo>
                  <a:lnTo>
                    <a:pt x="97951" y="713325"/>
                  </a:lnTo>
                  <a:lnTo>
                    <a:pt x="102011" y="711134"/>
                  </a:lnTo>
                  <a:lnTo>
                    <a:pt x="101882" y="711263"/>
                  </a:lnTo>
                  <a:lnTo>
                    <a:pt x="101754" y="711456"/>
                  </a:lnTo>
                  <a:lnTo>
                    <a:pt x="101754" y="711585"/>
                  </a:lnTo>
                  <a:lnTo>
                    <a:pt x="101754" y="711650"/>
                  </a:lnTo>
                  <a:lnTo>
                    <a:pt x="101754" y="711714"/>
                  </a:lnTo>
                  <a:lnTo>
                    <a:pt x="101818" y="711714"/>
                  </a:lnTo>
                  <a:lnTo>
                    <a:pt x="102656" y="711199"/>
                  </a:lnTo>
                  <a:lnTo>
                    <a:pt x="104460" y="709974"/>
                  </a:lnTo>
                  <a:lnTo>
                    <a:pt x="106973" y="708299"/>
                  </a:lnTo>
                  <a:lnTo>
                    <a:pt x="109744" y="706495"/>
                  </a:lnTo>
                  <a:lnTo>
                    <a:pt x="112580" y="704691"/>
                  </a:lnTo>
                  <a:lnTo>
                    <a:pt x="115093" y="703080"/>
                  </a:lnTo>
                  <a:lnTo>
                    <a:pt x="116059" y="702500"/>
                  </a:lnTo>
                  <a:lnTo>
                    <a:pt x="116833" y="701984"/>
                  </a:lnTo>
                  <a:lnTo>
                    <a:pt x="117348" y="701727"/>
                  </a:lnTo>
                  <a:lnTo>
                    <a:pt x="117542" y="701662"/>
                  </a:lnTo>
                  <a:lnTo>
                    <a:pt x="117800" y="701791"/>
                  </a:lnTo>
                  <a:lnTo>
                    <a:pt x="117993" y="701791"/>
                  </a:lnTo>
                  <a:lnTo>
                    <a:pt x="118186" y="701662"/>
                  </a:lnTo>
                  <a:lnTo>
                    <a:pt x="118444" y="701469"/>
                  </a:lnTo>
                  <a:lnTo>
                    <a:pt x="118637" y="701147"/>
                  </a:lnTo>
                  <a:lnTo>
                    <a:pt x="118831" y="700760"/>
                  </a:lnTo>
                  <a:lnTo>
                    <a:pt x="119024" y="700245"/>
                  </a:lnTo>
                  <a:lnTo>
                    <a:pt x="119217" y="699665"/>
                  </a:lnTo>
                  <a:lnTo>
                    <a:pt x="119539" y="698376"/>
                  </a:lnTo>
                  <a:lnTo>
                    <a:pt x="119926" y="696830"/>
                  </a:lnTo>
                  <a:lnTo>
                    <a:pt x="120248" y="695154"/>
                  </a:lnTo>
                  <a:lnTo>
                    <a:pt x="120506" y="693415"/>
                  </a:lnTo>
                  <a:lnTo>
                    <a:pt x="120957" y="689871"/>
                  </a:lnTo>
                  <a:lnTo>
                    <a:pt x="121279" y="686649"/>
                  </a:lnTo>
                  <a:lnTo>
                    <a:pt x="121537" y="684265"/>
                  </a:lnTo>
                  <a:lnTo>
                    <a:pt x="121666" y="683363"/>
                  </a:lnTo>
                  <a:lnTo>
                    <a:pt x="122053" y="673376"/>
                  </a:lnTo>
                  <a:lnTo>
                    <a:pt x="122439" y="663260"/>
                  </a:lnTo>
                  <a:lnTo>
                    <a:pt x="122762" y="653208"/>
                  </a:lnTo>
                  <a:lnTo>
                    <a:pt x="123148" y="643092"/>
                  </a:lnTo>
                  <a:lnTo>
                    <a:pt x="123342" y="632976"/>
                  </a:lnTo>
                  <a:lnTo>
                    <a:pt x="123406" y="622731"/>
                  </a:lnTo>
                  <a:lnTo>
                    <a:pt x="123406" y="617640"/>
                  </a:lnTo>
                  <a:lnTo>
                    <a:pt x="123406" y="612615"/>
                  </a:lnTo>
                  <a:lnTo>
                    <a:pt x="123342" y="607525"/>
                  </a:lnTo>
                  <a:lnTo>
                    <a:pt x="123277" y="602434"/>
                  </a:lnTo>
                  <a:lnTo>
                    <a:pt x="123148" y="597279"/>
                  </a:lnTo>
                  <a:lnTo>
                    <a:pt x="122955" y="592254"/>
                  </a:lnTo>
                  <a:lnTo>
                    <a:pt x="122697" y="587163"/>
                  </a:lnTo>
                  <a:lnTo>
                    <a:pt x="122504" y="582137"/>
                  </a:lnTo>
                  <a:lnTo>
                    <a:pt x="122182" y="577047"/>
                  </a:lnTo>
                  <a:lnTo>
                    <a:pt x="121859" y="572022"/>
                  </a:lnTo>
                  <a:lnTo>
                    <a:pt x="121408" y="566996"/>
                  </a:lnTo>
                  <a:lnTo>
                    <a:pt x="120957" y="561905"/>
                  </a:lnTo>
                  <a:lnTo>
                    <a:pt x="120506" y="556879"/>
                  </a:lnTo>
                  <a:lnTo>
                    <a:pt x="119991" y="551854"/>
                  </a:lnTo>
                  <a:lnTo>
                    <a:pt x="119282" y="546828"/>
                  </a:lnTo>
                  <a:lnTo>
                    <a:pt x="118637" y="541866"/>
                  </a:lnTo>
                  <a:lnTo>
                    <a:pt x="117864" y="536905"/>
                  </a:lnTo>
                  <a:lnTo>
                    <a:pt x="117091" y="531944"/>
                  </a:lnTo>
                  <a:lnTo>
                    <a:pt x="116188" y="526982"/>
                  </a:lnTo>
                  <a:lnTo>
                    <a:pt x="115286" y="522085"/>
                  </a:lnTo>
                  <a:lnTo>
                    <a:pt x="114191" y="517059"/>
                  </a:lnTo>
                  <a:lnTo>
                    <a:pt x="113031" y="512033"/>
                  </a:lnTo>
                  <a:lnTo>
                    <a:pt x="112451" y="509521"/>
                  </a:lnTo>
                  <a:lnTo>
                    <a:pt x="111935" y="507008"/>
                  </a:lnTo>
                  <a:lnTo>
                    <a:pt x="111355" y="504495"/>
                  </a:lnTo>
                  <a:lnTo>
                    <a:pt x="110904" y="501917"/>
                  </a:lnTo>
                  <a:lnTo>
                    <a:pt x="110517" y="499469"/>
                  </a:lnTo>
                  <a:lnTo>
                    <a:pt x="110131" y="496892"/>
                  </a:lnTo>
                  <a:lnTo>
                    <a:pt x="109938" y="494443"/>
                  </a:lnTo>
                  <a:lnTo>
                    <a:pt x="109744" y="491866"/>
                  </a:lnTo>
                  <a:lnTo>
                    <a:pt x="109744" y="489353"/>
                  </a:lnTo>
                  <a:lnTo>
                    <a:pt x="109809" y="486775"/>
                  </a:lnTo>
                  <a:lnTo>
                    <a:pt x="109938" y="485422"/>
                  </a:lnTo>
                  <a:lnTo>
                    <a:pt x="110066" y="484134"/>
                  </a:lnTo>
                  <a:lnTo>
                    <a:pt x="110195" y="482909"/>
                  </a:lnTo>
                  <a:lnTo>
                    <a:pt x="110453" y="481556"/>
                  </a:lnTo>
                  <a:lnTo>
                    <a:pt x="110904" y="479237"/>
                  </a:lnTo>
                  <a:lnTo>
                    <a:pt x="111484" y="476981"/>
                  </a:lnTo>
                  <a:lnTo>
                    <a:pt x="112193" y="474791"/>
                  </a:lnTo>
                  <a:lnTo>
                    <a:pt x="112837" y="472535"/>
                  </a:lnTo>
                  <a:lnTo>
                    <a:pt x="113740" y="470409"/>
                  </a:lnTo>
                  <a:lnTo>
                    <a:pt x="114577" y="468283"/>
                  </a:lnTo>
                  <a:lnTo>
                    <a:pt x="115544" y="466157"/>
                  </a:lnTo>
                  <a:lnTo>
                    <a:pt x="116575" y="464095"/>
                  </a:lnTo>
                  <a:lnTo>
                    <a:pt x="117671" y="462097"/>
                  </a:lnTo>
                  <a:lnTo>
                    <a:pt x="118831" y="460035"/>
                  </a:lnTo>
                  <a:lnTo>
                    <a:pt x="120055" y="458038"/>
                  </a:lnTo>
                  <a:lnTo>
                    <a:pt x="121215" y="456105"/>
                  </a:lnTo>
                  <a:lnTo>
                    <a:pt x="122504" y="454172"/>
                  </a:lnTo>
                  <a:lnTo>
                    <a:pt x="123857" y="452239"/>
                  </a:lnTo>
                  <a:lnTo>
                    <a:pt x="125210" y="450306"/>
                  </a:lnTo>
                  <a:lnTo>
                    <a:pt x="126628" y="448373"/>
                  </a:lnTo>
                  <a:lnTo>
                    <a:pt x="129399" y="444636"/>
                  </a:lnTo>
                  <a:lnTo>
                    <a:pt x="132234" y="440898"/>
                  </a:lnTo>
                  <a:lnTo>
                    <a:pt x="135134" y="437097"/>
                  </a:lnTo>
                  <a:lnTo>
                    <a:pt x="138034" y="433360"/>
                  </a:lnTo>
                  <a:lnTo>
                    <a:pt x="140741" y="429623"/>
                  </a:lnTo>
                  <a:lnTo>
                    <a:pt x="143447" y="425757"/>
                  </a:lnTo>
                  <a:lnTo>
                    <a:pt x="144736" y="423888"/>
                  </a:lnTo>
                  <a:lnTo>
                    <a:pt x="145961" y="421955"/>
                  </a:lnTo>
                  <a:lnTo>
                    <a:pt x="147120" y="419957"/>
                  </a:lnTo>
                  <a:lnTo>
                    <a:pt x="148280" y="417960"/>
                  </a:lnTo>
                  <a:lnTo>
                    <a:pt x="150794" y="413643"/>
                  </a:lnTo>
                  <a:lnTo>
                    <a:pt x="153178" y="409326"/>
                  </a:lnTo>
                  <a:lnTo>
                    <a:pt x="155627" y="405073"/>
                  </a:lnTo>
                  <a:lnTo>
                    <a:pt x="158076" y="400885"/>
                  </a:lnTo>
                  <a:lnTo>
                    <a:pt x="160589" y="396761"/>
                  </a:lnTo>
                  <a:lnTo>
                    <a:pt x="163038" y="392702"/>
                  </a:lnTo>
                  <a:lnTo>
                    <a:pt x="165680" y="388707"/>
                  </a:lnTo>
                  <a:lnTo>
                    <a:pt x="168322" y="384777"/>
                  </a:lnTo>
                  <a:lnTo>
                    <a:pt x="169675" y="382908"/>
                  </a:lnTo>
                  <a:lnTo>
                    <a:pt x="171093" y="380911"/>
                  </a:lnTo>
                  <a:lnTo>
                    <a:pt x="172511" y="379042"/>
                  </a:lnTo>
                  <a:lnTo>
                    <a:pt x="173928" y="377174"/>
                  </a:lnTo>
                  <a:lnTo>
                    <a:pt x="175410" y="375305"/>
                  </a:lnTo>
                  <a:lnTo>
                    <a:pt x="176957" y="373501"/>
                  </a:lnTo>
                  <a:lnTo>
                    <a:pt x="178504" y="371696"/>
                  </a:lnTo>
                  <a:lnTo>
                    <a:pt x="180115" y="369892"/>
                  </a:lnTo>
                  <a:lnTo>
                    <a:pt x="181790" y="368088"/>
                  </a:lnTo>
                  <a:lnTo>
                    <a:pt x="183465" y="366284"/>
                  </a:lnTo>
                  <a:lnTo>
                    <a:pt x="185206" y="364544"/>
                  </a:lnTo>
                  <a:lnTo>
                    <a:pt x="186945" y="362869"/>
                  </a:lnTo>
                  <a:lnTo>
                    <a:pt x="188750" y="361194"/>
                  </a:lnTo>
                  <a:lnTo>
                    <a:pt x="190619" y="359518"/>
                  </a:lnTo>
                  <a:lnTo>
                    <a:pt x="192616" y="357843"/>
                  </a:lnTo>
                  <a:lnTo>
                    <a:pt x="194614" y="356232"/>
                  </a:lnTo>
                  <a:lnTo>
                    <a:pt x="197514" y="353848"/>
                  </a:lnTo>
                  <a:lnTo>
                    <a:pt x="200414" y="351464"/>
                  </a:lnTo>
                  <a:lnTo>
                    <a:pt x="203120" y="349016"/>
                  </a:lnTo>
                  <a:lnTo>
                    <a:pt x="205762" y="346503"/>
                  </a:lnTo>
                  <a:lnTo>
                    <a:pt x="208340" y="344055"/>
                  </a:lnTo>
                  <a:lnTo>
                    <a:pt x="210789" y="341477"/>
                  </a:lnTo>
                  <a:lnTo>
                    <a:pt x="213173" y="338835"/>
                  </a:lnTo>
                  <a:lnTo>
                    <a:pt x="215429" y="336129"/>
                  </a:lnTo>
                  <a:lnTo>
                    <a:pt x="216589" y="334776"/>
                  </a:lnTo>
                  <a:lnTo>
                    <a:pt x="217620" y="333358"/>
                  </a:lnTo>
                  <a:lnTo>
                    <a:pt x="218651" y="331941"/>
                  </a:lnTo>
                  <a:lnTo>
                    <a:pt x="219746" y="330523"/>
                  </a:lnTo>
                  <a:lnTo>
                    <a:pt x="220648" y="329041"/>
                  </a:lnTo>
                  <a:lnTo>
                    <a:pt x="221680" y="327559"/>
                  </a:lnTo>
                  <a:lnTo>
                    <a:pt x="222582" y="326013"/>
                  </a:lnTo>
                  <a:lnTo>
                    <a:pt x="223548" y="324531"/>
                  </a:lnTo>
                  <a:lnTo>
                    <a:pt x="224515" y="322985"/>
                  </a:lnTo>
                  <a:lnTo>
                    <a:pt x="225353" y="321374"/>
                  </a:lnTo>
                  <a:lnTo>
                    <a:pt x="226190" y="319763"/>
                  </a:lnTo>
                  <a:lnTo>
                    <a:pt x="227028" y="318152"/>
                  </a:lnTo>
                  <a:lnTo>
                    <a:pt x="227866" y="316477"/>
                  </a:lnTo>
                  <a:lnTo>
                    <a:pt x="228575" y="314673"/>
                  </a:lnTo>
                  <a:lnTo>
                    <a:pt x="229413" y="312933"/>
                  </a:lnTo>
                  <a:lnTo>
                    <a:pt x="230121" y="311193"/>
                  </a:lnTo>
                  <a:lnTo>
                    <a:pt x="231475" y="307649"/>
                  </a:lnTo>
                  <a:lnTo>
                    <a:pt x="232260" y="305528"/>
                  </a:lnTo>
                  <a:lnTo>
                    <a:pt x="232764" y="304170"/>
                  </a:lnTo>
                  <a:lnTo>
                    <a:pt x="233859" y="300626"/>
                  </a:lnTo>
                  <a:lnTo>
                    <a:pt x="235019" y="297082"/>
                  </a:lnTo>
                  <a:lnTo>
                    <a:pt x="236050" y="293409"/>
                  </a:lnTo>
                  <a:lnTo>
                    <a:pt x="236952" y="289866"/>
                  </a:lnTo>
                  <a:lnTo>
                    <a:pt x="237790" y="286257"/>
                  </a:lnTo>
                  <a:lnTo>
                    <a:pt x="238563" y="282649"/>
                  </a:lnTo>
                  <a:lnTo>
                    <a:pt x="239337" y="278912"/>
                  </a:lnTo>
                  <a:lnTo>
                    <a:pt x="239409" y="278462"/>
                  </a:lnTo>
                  <a:lnTo>
                    <a:pt x="239917" y="275303"/>
                  </a:lnTo>
                  <a:lnTo>
                    <a:pt x="240432" y="271630"/>
                  </a:lnTo>
                  <a:lnTo>
                    <a:pt x="241012" y="267958"/>
                  </a:lnTo>
                  <a:lnTo>
                    <a:pt x="241399" y="264221"/>
                  </a:lnTo>
                  <a:lnTo>
                    <a:pt x="241785" y="260548"/>
                  </a:lnTo>
                  <a:lnTo>
                    <a:pt x="242043" y="256875"/>
                  </a:lnTo>
                  <a:lnTo>
                    <a:pt x="242365" y="253073"/>
                  </a:lnTo>
                  <a:lnTo>
                    <a:pt x="242559" y="249401"/>
                  </a:lnTo>
                  <a:lnTo>
                    <a:pt x="242688" y="245663"/>
                  </a:lnTo>
                  <a:lnTo>
                    <a:pt x="242752" y="241926"/>
                  </a:lnTo>
                  <a:lnTo>
                    <a:pt x="242816" y="238189"/>
                  </a:lnTo>
                  <a:lnTo>
                    <a:pt x="242816" y="234452"/>
                  </a:lnTo>
                  <a:lnTo>
                    <a:pt x="242752" y="230715"/>
                  </a:lnTo>
                  <a:lnTo>
                    <a:pt x="242623" y="226978"/>
                  </a:lnTo>
                  <a:lnTo>
                    <a:pt x="242494" y="223241"/>
                  </a:lnTo>
                  <a:lnTo>
                    <a:pt x="242365" y="219568"/>
                  </a:lnTo>
                  <a:lnTo>
                    <a:pt x="242043" y="215766"/>
                  </a:lnTo>
                  <a:lnTo>
                    <a:pt x="241850" y="212093"/>
                  </a:lnTo>
                  <a:lnTo>
                    <a:pt x="241528" y="208356"/>
                  </a:lnTo>
                  <a:lnTo>
                    <a:pt x="240883" y="200946"/>
                  </a:lnTo>
                  <a:lnTo>
                    <a:pt x="240110" y="193537"/>
                  </a:lnTo>
                  <a:lnTo>
                    <a:pt x="239981" y="192377"/>
                  </a:lnTo>
                  <a:lnTo>
                    <a:pt x="239594" y="189091"/>
                  </a:lnTo>
                  <a:lnTo>
                    <a:pt x="239014" y="184065"/>
                  </a:lnTo>
                  <a:lnTo>
                    <a:pt x="238241" y="177428"/>
                  </a:lnTo>
                  <a:lnTo>
                    <a:pt x="237403" y="169761"/>
                  </a:lnTo>
                  <a:lnTo>
                    <a:pt x="236372" y="161062"/>
                  </a:lnTo>
                  <a:lnTo>
                    <a:pt x="235277" y="151848"/>
                  </a:lnTo>
                  <a:lnTo>
                    <a:pt x="234181" y="142312"/>
                  </a:lnTo>
                  <a:lnTo>
                    <a:pt x="233086" y="132776"/>
                  </a:lnTo>
                  <a:lnTo>
                    <a:pt x="231990" y="123497"/>
                  </a:lnTo>
                  <a:lnTo>
                    <a:pt x="231024" y="114927"/>
                  </a:lnTo>
                  <a:lnTo>
                    <a:pt x="230057" y="107195"/>
                  </a:lnTo>
                  <a:lnTo>
                    <a:pt x="229348" y="100623"/>
                  </a:lnTo>
                  <a:lnTo>
                    <a:pt x="228704" y="95597"/>
                  </a:lnTo>
                  <a:lnTo>
                    <a:pt x="228382" y="92375"/>
                  </a:lnTo>
                  <a:lnTo>
                    <a:pt x="228253" y="91216"/>
                  </a:lnTo>
                  <a:lnTo>
                    <a:pt x="228188" y="87414"/>
                  </a:lnTo>
                  <a:lnTo>
                    <a:pt x="227995" y="83548"/>
                  </a:lnTo>
                  <a:lnTo>
                    <a:pt x="227737" y="79746"/>
                  </a:lnTo>
                  <a:lnTo>
                    <a:pt x="227351" y="75945"/>
                  </a:lnTo>
                  <a:lnTo>
                    <a:pt x="226899" y="72079"/>
                  </a:lnTo>
                  <a:lnTo>
                    <a:pt x="226448" y="68277"/>
                  </a:lnTo>
                  <a:lnTo>
                    <a:pt x="225868" y="64411"/>
                  </a:lnTo>
                  <a:lnTo>
                    <a:pt x="225417" y="60609"/>
                  </a:lnTo>
                  <a:lnTo>
                    <a:pt x="224902" y="56808"/>
                  </a:lnTo>
                  <a:lnTo>
                    <a:pt x="224322" y="52942"/>
                  </a:lnTo>
                  <a:lnTo>
                    <a:pt x="223871" y="49140"/>
                  </a:lnTo>
                  <a:lnTo>
                    <a:pt x="223419" y="45339"/>
                  </a:lnTo>
                  <a:lnTo>
                    <a:pt x="223097" y="41473"/>
                  </a:lnTo>
                  <a:lnTo>
                    <a:pt x="222775" y="37671"/>
                  </a:lnTo>
                  <a:lnTo>
                    <a:pt x="222582" y="33869"/>
                  </a:lnTo>
                  <a:lnTo>
                    <a:pt x="222517" y="30003"/>
                  </a:lnTo>
                  <a:lnTo>
                    <a:pt x="222582" y="27619"/>
                  </a:lnTo>
                  <a:lnTo>
                    <a:pt x="222711" y="25235"/>
                  </a:lnTo>
                  <a:lnTo>
                    <a:pt x="222904" y="22915"/>
                  </a:lnTo>
                  <a:lnTo>
                    <a:pt x="223162" y="20531"/>
                  </a:lnTo>
                  <a:lnTo>
                    <a:pt x="223484" y="18276"/>
                  </a:lnTo>
                  <a:lnTo>
                    <a:pt x="223806" y="15892"/>
                  </a:lnTo>
                  <a:lnTo>
                    <a:pt x="224193" y="13637"/>
                  </a:lnTo>
                  <a:lnTo>
                    <a:pt x="224708" y="11382"/>
                  </a:lnTo>
                  <a:lnTo>
                    <a:pt x="225610" y="6743"/>
                  </a:lnTo>
                  <a:lnTo>
                    <a:pt x="226641" y="2168"/>
                  </a:lnTo>
                  <a:lnTo>
                    <a:pt x="227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9"/>
            <p:cNvSpPr txBox="1"/>
            <p:nvPr/>
          </p:nvSpPr>
          <p:spPr>
            <a:xfrm>
              <a:off x="-8389" y="344125"/>
              <a:ext cx="97654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1800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GOATS</a:t>
              </a:r>
              <a:endParaRPr/>
            </a:p>
          </p:txBody>
        </p:sp>
      </p:grpSp>
      <p:sp>
        <p:nvSpPr>
          <p:cNvPr id="33" name="Google Shape;33;p49"/>
          <p:cNvSpPr/>
          <p:nvPr>
            <p:ph idx="2" type="pic"/>
          </p:nvPr>
        </p:nvSpPr>
        <p:spPr>
          <a:xfrm>
            <a:off x="1" y="604838"/>
            <a:ext cx="4718956" cy="62531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0"/>
          <p:cNvSpPr/>
          <p:nvPr>
            <p:ph idx="2" type="pic"/>
          </p:nvPr>
        </p:nvSpPr>
        <p:spPr>
          <a:xfrm>
            <a:off x="6478588" y="2371725"/>
            <a:ext cx="3749675" cy="2479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Custom Layout">
  <p:cSld name="29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1"/>
          <p:cNvSpPr/>
          <p:nvPr>
            <p:ph idx="2" type="pic"/>
          </p:nvPr>
        </p:nvSpPr>
        <p:spPr>
          <a:xfrm>
            <a:off x="3452653" y="1"/>
            <a:ext cx="8739347" cy="6857997"/>
          </a:xfrm>
          <a:prstGeom prst="rect">
            <a:avLst/>
          </a:prstGeom>
          <a:solidFill>
            <a:srgbClr val="7F7F7F">
              <a:alpha val="5098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2"/>
          <p:cNvSpPr/>
          <p:nvPr>
            <p:ph idx="2" type="pic"/>
          </p:nvPr>
        </p:nvSpPr>
        <p:spPr>
          <a:xfrm>
            <a:off x="609600" y="0"/>
            <a:ext cx="77914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2"/>
          <p:cNvSpPr/>
          <p:nvPr/>
        </p:nvSpPr>
        <p:spPr>
          <a:xfrm flipH="1" rot="-5400000">
            <a:off x="5318518" y="-1"/>
            <a:ext cx="6873483" cy="6873483"/>
          </a:xfrm>
          <a:prstGeom prst="rtTriangle">
            <a:avLst/>
          </a:prstGeom>
          <a:solidFill>
            <a:srgbClr val="F2F2F2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Slide">
  <p:cSld name="18_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3"/>
          <p:cNvSpPr/>
          <p:nvPr>
            <p:ph idx="2" type="pic"/>
          </p:nvPr>
        </p:nvSpPr>
        <p:spPr>
          <a:xfrm>
            <a:off x="6217725" y="1493838"/>
            <a:ext cx="6350000" cy="397224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/>
          <p:nvPr>
            <p:ph idx="2" type="pic"/>
          </p:nvPr>
        </p:nvSpPr>
        <p:spPr>
          <a:xfrm>
            <a:off x="0" y="0"/>
            <a:ext cx="5362414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5" name="Google Shape;45;p54"/>
          <p:cNvSpPr/>
          <p:nvPr>
            <p:ph idx="3" type="pic"/>
          </p:nvPr>
        </p:nvSpPr>
        <p:spPr>
          <a:xfrm>
            <a:off x="3035300" y="0"/>
            <a:ext cx="4220906" cy="489646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6" name="Google Shape;46;p54"/>
          <p:cNvSpPr/>
          <p:nvPr>
            <p:ph idx="4" type="pic"/>
          </p:nvPr>
        </p:nvSpPr>
        <p:spPr>
          <a:xfrm>
            <a:off x="5145752" y="5158740"/>
            <a:ext cx="2977167" cy="169926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5"/>
          <p:cNvSpPr/>
          <p:nvPr>
            <p:ph idx="3" type="pic"/>
          </p:nvPr>
        </p:nvSpPr>
        <p:spPr>
          <a:xfrm>
            <a:off x="609600" y="800101"/>
            <a:ext cx="5486400" cy="605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6"/>
          <p:cNvSpPr/>
          <p:nvPr>
            <p:ph idx="2" type="pic"/>
          </p:nvPr>
        </p:nvSpPr>
        <p:spPr>
          <a:xfrm>
            <a:off x="-3" y="0"/>
            <a:ext cx="5393637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/>
          <p:nvPr>
            <p:ph idx="2" type="pic"/>
          </p:nvPr>
        </p:nvSpPr>
        <p:spPr>
          <a:xfrm>
            <a:off x="6109252" y="1032012"/>
            <a:ext cx="5040313" cy="50126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/>
          <p:nvPr>
            <p:ph idx="2" type="pic"/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9" name="Google Shape;59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6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6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8" name="Google Shape;98;p6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6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/>
          <p:nvPr/>
        </p:nvSpPr>
        <p:spPr>
          <a:xfrm>
            <a:off x="12442" y="3402698"/>
            <a:ext cx="12167116" cy="3414157"/>
          </a:xfrm>
          <a:custGeom>
            <a:rect b="b" l="l" r="r" t="t"/>
            <a:pathLst>
              <a:path extrusionOk="0" h="904632" w="1665822">
                <a:moveTo>
                  <a:pt x="0" y="0"/>
                </a:moveTo>
                <a:lnTo>
                  <a:pt x="1665822" y="0"/>
                </a:lnTo>
                <a:lnTo>
                  <a:pt x="1665822" y="904632"/>
                </a:lnTo>
                <a:lnTo>
                  <a:pt x="0" y="904632"/>
                </a:lnTo>
                <a:close/>
              </a:path>
            </a:pathLst>
          </a:custGeom>
          <a:blipFill rotWithShape="1">
            <a:blip r:embed="rId3">
              <a:alphaModFix amt="1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10387994" y="2950336"/>
            <a:ext cx="1804006" cy="4274588"/>
          </a:xfrm>
          <a:custGeom>
            <a:rect b="b" l="l" r="r" t="t"/>
            <a:pathLst>
              <a:path extrusionOk="0" h="5756070" w="2429235">
                <a:moveTo>
                  <a:pt x="0" y="0"/>
                </a:moveTo>
                <a:lnTo>
                  <a:pt x="2429235" y="0"/>
                </a:lnTo>
                <a:lnTo>
                  <a:pt x="2429235" y="5756070"/>
                </a:lnTo>
                <a:lnTo>
                  <a:pt x="0" y="5756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 rotWithShape="1">
          <a:blip r:embed="rId5">
            <a:alphaModFix/>
          </a:blip>
          <a:srcRect b="1559" l="10953" r="4138" t="32333"/>
          <a:stretch/>
        </p:blipFill>
        <p:spPr>
          <a:xfrm>
            <a:off x="-25570" y="-48183"/>
            <a:ext cx="12243141" cy="474815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 txBox="1"/>
          <p:nvPr/>
        </p:nvSpPr>
        <p:spPr>
          <a:xfrm rot="-467143">
            <a:off x="4029444" y="6611072"/>
            <a:ext cx="9081828" cy="664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2575" lIns="32575" spcFirstLastPara="1" rIns="32575" wrap="square" tIns="32575">
            <a:noAutofit/>
          </a:bodyPr>
          <a:lstStyle/>
          <a:p>
            <a:pPr indent="0" lvl="0" marL="0" marR="0" rtl="0" algn="ctr">
              <a:lnSpc>
                <a:spcPct val="102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rot="-467143">
            <a:off x="-741973" y="-515236"/>
            <a:ext cx="5313963" cy="668284"/>
          </a:xfrm>
          <a:custGeom>
            <a:rect b="b" l="l" r="r" t="t"/>
            <a:pathLst>
              <a:path extrusionOk="0" h="668284" w="5313963">
                <a:moveTo>
                  <a:pt x="426305" y="0"/>
                </a:moveTo>
                <a:lnTo>
                  <a:pt x="5313963" y="668284"/>
                </a:lnTo>
                <a:lnTo>
                  <a:pt x="0" y="668284"/>
                </a:lnTo>
                <a:lnTo>
                  <a:pt x="0" y="0"/>
                </a:lnTo>
                <a:lnTo>
                  <a:pt x="426305" y="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8D080C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8197020" y="-2165062"/>
            <a:ext cx="4797548" cy="5207646"/>
          </a:xfrm>
          <a:custGeom>
            <a:rect b="b" l="l" r="r" t="t"/>
            <a:pathLst>
              <a:path extrusionOk="0" h="3325495" w="3063613">
                <a:moveTo>
                  <a:pt x="0" y="0"/>
                </a:moveTo>
                <a:lnTo>
                  <a:pt x="3063613" y="0"/>
                </a:lnTo>
                <a:lnTo>
                  <a:pt x="3063613" y="3325496"/>
                </a:lnTo>
                <a:lnTo>
                  <a:pt x="0" y="3325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 flipH="1">
            <a:off x="-228418" y="-2324580"/>
            <a:ext cx="5576778" cy="6053492"/>
          </a:xfrm>
          <a:custGeom>
            <a:rect b="b" l="l" r="r" t="t"/>
            <a:pathLst>
              <a:path extrusionOk="0" h="4246867" w="3912426">
                <a:moveTo>
                  <a:pt x="3912426" y="0"/>
                </a:moveTo>
                <a:lnTo>
                  <a:pt x="0" y="0"/>
                </a:lnTo>
                <a:lnTo>
                  <a:pt x="0" y="4246867"/>
                </a:lnTo>
                <a:lnTo>
                  <a:pt x="3912426" y="4246867"/>
                </a:lnTo>
                <a:lnTo>
                  <a:pt x="3912426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 rot="-472711">
            <a:off x="3263088" y="253179"/>
            <a:ext cx="5424321" cy="334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575" lIns="32575" spcFirstLastPara="1" rIns="32575" wrap="square" tIns="32575">
            <a:noAutofit/>
          </a:bodyPr>
          <a:lstStyle/>
          <a:p>
            <a:pPr indent="0" lvl="0" marL="0" marR="0" rtl="0" algn="ctr">
              <a:lnSpc>
                <a:spcPct val="102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1"/>
          <p:cNvGrpSpPr/>
          <p:nvPr/>
        </p:nvGrpSpPr>
        <p:grpSpPr>
          <a:xfrm rot="-482563">
            <a:off x="-127256" y="3413145"/>
            <a:ext cx="12778114" cy="434648"/>
            <a:chOff x="-3376" y="-28575"/>
            <a:chExt cx="3034108" cy="242850"/>
          </a:xfrm>
        </p:grpSpPr>
        <p:sp>
          <p:nvSpPr>
            <p:cNvPr id="135" name="Google Shape;135;p1"/>
            <p:cNvSpPr/>
            <p:nvPr/>
          </p:nvSpPr>
          <p:spPr>
            <a:xfrm>
              <a:off x="-3376" y="56208"/>
              <a:ext cx="3030732" cy="158067"/>
            </a:xfrm>
            <a:custGeom>
              <a:rect b="b" l="l" r="r" t="t"/>
              <a:pathLst>
                <a:path extrusionOk="0" h="158067" w="3030732">
                  <a:moveTo>
                    <a:pt x="0" y="0"/>
                  </a:moveTo>
                  <a:lnTo>
                    <a:pt x="3030732" y="0"/>
                  </a:lnTo>
                  <a:lnTo>
                    <a:pt x="3030732" y="158067"/>
                  </a:lnTo>
                  <a:lnTo>
                    <a:pt x="0" y="158067"/>
                  </a:lnTo>
                  <a:close/>
                </a:path>
              </a:pathLst>
            </a:custGeom>
            <a:gradFill>
              <a:gsLst>
                <a:gs pos="0">
                  <a:srgbClr val="BF2129"/>
                </a:gs>
                <a:gs pos="100000">
                  <a:srgbClr val="8D080C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27"/>
                <a:buFont typeface="Arial"/>
                <a:buNone/>
              </a:pPr>
              <a:r>
                <a:t/>
              </a:r>
              <a:endParaRPr b="0" i="0" sz="12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 txBox="1"/>
            <p:nvPr/>
          </p:nvSpPr>
          <p:spPr>
            <a:xfrm>
              <a:off x="0" y="-28575"/>
              <a:ext cx="3030732" cy="186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575" lIns="32575" spcFirstLastPara="1" rIns="32575" wrap="square" tIns="32575">
              <a:noAutofit/>
            </a:bodyPr>
            <a:lstStyle/>
            <a:p>
              <a:pPr indent="0" lvl="0" marL="0" marR="0" rtl="0" algn="ctr">
                <a:lnSpc>
                  <a:spcPct val="10244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27"/>
                <a:buFont typeface="Arial"/>
                <a:buNone/>
              </a:pPr>
              <a:r>
                <a:t/>
              </a:r>
              <a:endParaRPr b="0" i="0" sz="12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1"/>
          <p:cNvSpPr/>
          <p:nvPr/>
        </p:nvSpPr>
        <p:spPr>
          <a:xfrm rot="5598918">
            <a:off x="7042550" y="-35475"/>
            <a:ext cx="1382140" cy="848289"/>
          </a:xfrm>
          <a:custGeom>
            <a:rect b="b" l="l" r="r" t="t"/>
            <a:pathLst>
              <a:path extrusionOk="0" h="1244157" w="2027139">
                <a:moveTo>
                  <a:pt x="0" y="0"/>
                </a:moveTo>
                <a:lnTo>
                  <a:pt x="2027140" y="0"/>
                </a:lnTo>
                <a:lnTo>
                  <a:pt x="2027140" y="1244157"/>
                </a:lnTo>
                <a:lnTo>
                  <a:pt x="0" y="1244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1"/>
          <p:cNvGrpSpPr/>
          <p:nvPr/>
        </p:nvGrpSpPr>
        <p:grpSpPr>
          <a:xfrm>
            <a:off x="11376213" y="-26913"/>
            <a:ext cx="598073" cy="1372692"/>
            <a:chOff x="0" y="-28575"/>
            <a:chExt cx="635000" cy="1457448"/>
          </a:xfrm>
        </p:grpSpPr>
        <p:sp>
          <p:nvSpPr>
            <p:cNvPr id="139" name="Google Shape;139;p1"/>
            <p:cNvSpPr/>
            <p:nvPr/>
          </p:nvSpPr>
          <p:spPr>
            <a:xfrm>
              <a:off x="0" y="0"/>
              <a:ext cx="635000" cy="1428873"/>
            </a:xfrm>
            <a:custGeom>
              <a:rect b="b" l="l" r="r" t="t"/>
              <a:pathLst>
                <a:path extrusionOk="0" h="1428873" w="635000">
                  <a:moveTo>
                    <a:pt x="635000" y="0"/>
                  </a:moveTo>
                  <a:lnTo>
                    <a:pt x="635000" y="1314573"/>
                  </a:lnTo>
                  <a:lnTo>
                    <a:pt x="317500" y="1428873"/>
                  </a:lnTo>
                  <a:lnTo>
                    <a:pt x="0" y="1314573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gradFill>
              <a:gsLst>
                <a:gs pos="0">
                  <a:srgbClr val="BF2129"/>
                </a:gs>
                <a:gs pos="100000">
                  <a:srgbClr val="8D080C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27"/>
                <a:buFont typeface="Arial"/>
                <a:buNone/>
              </a:pPr>
              <a:r>
                <a:t/>
              </a:r>
              <a:endParaRPr b="0" i="0" sz="12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 txBox="1"/>
            <p:nvPr/>
          </p:nvSpPr>
          <p:spPr>
            <a:xfrm>
              <a:off x="0" y="-28575"/>
              <a:ext cx="635000" cy="1343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575" lIns="32575" spcFirstLastPara="1" rIns="32575" wrap="square" tIns="32575">
              <a:noAutofit/>
            </a:bodyPr>
            <a:lstStyle/>
            <a:p>
              <a:pPr indent="0" lvl="0" marL="0" marR="0" rtl="0" algn="ctr">
                <a:lnSpc>
                  <a:spcPct val="10244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27"/>
                <a:buFont typeface="Arial"/>
                <a:buNone/>
              </a:pPr>
              <a:r>
                <a:t/>
              </a:r>
              <a:endParaRPr b="0" i="0" sz="12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"/>
          <p:cNvSpPr/>
          <p:nvPr/>
        </p:nvSpPr>
        <p:spPr>
          <a:xfrm rot="-467143">
            <a:off x="7137296" y="6508822"/>
            <a:ext cx="5113355" cy="613593"/>
          </a:xfrm>
          <a:custGeom>
            <a:rect b="b" l="l" r="r" t="t"/>
            <a:pathLst>
              <a:path extrusionOk="0" h="613593" w="5113355">
                <a:moveTo>
                  <a:pt x="5113355" y="0"/>
                </a:moveTo>
                <a:lnTo>
                  <a:pt x="5029459" y="613593"/>
                </a:lnTo>
                <a:lnTo>
                  <a:pt x="4487657" y="613593"/>
                </a:lnTo>
                <a:lnTo>
                  <a:pt x="0" y="0"/>
                </a:lnTo>
                <a:lnTo>
                  <a:pt x="5113355" y="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8D080C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 rot="-493219">
            <a:off x="-48541" y="4785571"/>
            <a:ext cx="2888410" cy="417960"/>
          </a:xfrm>
          <a:custGeom>
            <a:rect b="b" l="l" r="r" t="t"/>
            <a:pathLst>
              <a:path extrusionOk="0" h="417960" w="2888410">
                <a:moveTo>
                  <a:pt x="2888410" y="0"/>
                </a:moveTo>
                <a:lnTo>
                  <a:pt x="2533732" y="417960"/>
                </a:lnTo>
                <a:lnTo>
                  <a:pt x="0" y="417959"/>
                </a:lnTo>
                <a:lnTo>
                  <a:pt x="60380" y="0"/>
                </a:lnTo>
                <a:lnTo>
                  <a:pt x="2888410" y="0"/>
                </a:lnTo>
                <a:close/>
              </a:path>
            </a:pathLst>
          </a:custGeom>
          <a:solidFill>
            <a:srgbClr val="BF212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 rot="-493219">
            <a:off x="-949572" y="4843471"/>
            <a:ext cx="3616262" cy="437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2575" lIns="32575" spcFirstLastPara="1" rIns="32575" wrap="square" tIns="32575">
            <a:noAutofit/>
          </a:bodyPr>
          <a:lstStyle/>
          <a:p>
            <a:pPr indent="0" lvl="0" marL="0" marR="0" rtl="0" algn="ctr">
              <a:lnSpc>
                <a:spcPct val="102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7"/>
              <a:buFont typeface="Arial"/>
              <a:buNone/>
            </a:pPr>
            <a:r>
              <a:t/>
            </a:r>
            <a:endParaRPr b="0" i="0" sz="12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1"/>
          <p:cNvGrpSpPr/>
          <p:nvPr/>
        </p:nvGrpSpPr>
        <p:grpSpPr>
          <a:xfrm>
            <a:off x="3243732" y="3597487"/>
            <a:ext cx="7129489" cy="1296632"/>
            <a:chOff x="3421532" y="3229187"/>
            <a:chExt cx="7129489" cy="1296632"/>
          </a:xfrm>
        </p:grpSpPr>
        <p:grpSp>
          <p:nvGrpSpPr>
            <p:cNvPr id="145" name="Google Shape;145;p1"/>
            <p:cNvGrpSpPr/>
            <p:nvPr/>
          </p:nvGrpSpPr>
          <p:grpSpPr>
            <a:xfrm rot="-504306">
              <a:off x="3433364" y="4237737"/>
              <a:ext cx="869279" cy="225762"/>
              <a:chOff x="-71029" y="-28575"/>
              <a:chExt cx="2457244" cy="638175"/>
            </a:xfrm>
          </p:grpSpPr>
          <p:sp>
            <p:nvSpPr>
              <p:cNvPr id="146" name="Google Shape;146;p1"/>
              <p:cNvSpPr/>
              <p:nvPr/>
            </p:nvSpPr>
            <p:spPr>
              <a:xfrm>
                <a:off x="-71029" y="-10495"/>
                <a:ext cx="2457244" cy="609599"/>
              </a:xfrm>
              <a:custGeom>
                <a:rect b="b" l="l" r="r" t="t"/>
                <a:pathLst>
                  <a:path extrusionOk="0" h="609600" w="2457245">
                    <a:moveTo>
                      <a:pt x="203200" y="0"/>
                    </a:moveTo>
                    <a:lnTo>
                      <a:pt x="2457245" y="0"/>
                    </a:lnTo>
                    <a:lnTo>
                      <a:pt x="2254045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27"/>
                  <a:buFont typeface="Arial"/>
                  <a:buNone/>
                </a:pPr>
                <a:r>
                  <a:t/>
                </a:r>
                <a:endParaRPr b="0" i="0" sz="122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"/>
              <p:cNvSpPr txBox="1"/>
              <p:nvPr/>
            </p:nvSpPr>
            <p:spPr>
              <a:xfrm>
                <a:off x="101600" y="-28575"/>
                <a:ext cx="225404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575" lIns="32575" spcFirstLastPara="1" rIns="32575" wrap="square" tIns="32575">
                <a:noAutofit/>
              </a:bodyPr>
              <a:lstStyle/>
              <a:p>
                <a:pPr indent="0" lvl="0" marL="0" marR="0" rtl="0" algn="ctr">
                  <a:lnSpc>
                    <a:spcPct val="102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27"/>
                  <a:buFont typeface="Arial"/>
                  <a:buNone/>
                </a:pPr>
                <a:r>
                  <a:t/>
                </a:r>
                <a:endParaRPr b="0" i="0" sz="122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1"/>
            <p:cNvGrpSpPr/>
            <p:nvPr/>
          </p:nvGrpSpPr>
          <p:grpSpPr>
            <a:xfrm rot="-442955">
              <a:off x="9668438" y="3284160"/>
              <a:ext cx="870955" cy="237185"/>
              <a:chOff x="101600" y="-28575"/>
              <a:chExt cx="2461982" cy="670466"/>
            </a:xfrm>
          </p:grpSpPr>
          <p:sp>
            <p:nvSpPr>
              <p:cNvPr id="149" name="Google Shape;149;p1"/>
              <p:cNvSpPr/>
              <p:nvPr/>
            </p:nvSpPr>
            <p:spPr>
              <a:xfrm>
                <a:off x="249212" y="32291"/>
                <a:ext cx="2314370" cy="609600"/>
              </a:xfrm>
              <a:custGeom>
                <a:rect b="b" l="l" r="r" t="t"/>
                <a:pathLst>
                  <a:path extrusionOk="0" h="609600" w="2314370">
                    <a:moveTo>
                      <a:pt x="203200" y="0"/>
                    </a:moveTo>
                    <a:lnTo>
                      <a:pt x="2314370" y="0"/>
                    </a:lnTo>
                    <a:lnTo>
                      <a:pt x="211117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27"/>
                  <a:buFont typeface="Arial"/>
                  <a:buNone/>
                </a:pPr>
                <a:r>
                  <a:t/>
                </a:r>
                <a:endParaRPr b="0" i="0" sz="122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"/>
              <p:cNvSpPr txBox="1"/>
              <p:nvPr/>
            </p:nvSpPr>
            <p:spPr>
              <a:xfrm>
                <a:off x="101600" y="-28575"/>
                <a:ext cx="2111170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575" lIns="32575" spcFirstLastPara="1" rIns="32575" wrap="square" tIns="32575">
                <a:noAutofit/>
              </a:bodyPr>
              <a:lstStyle/>
              <a:p>
                <a:pPr indent="0" lvl="0" marL="0" marR="0" rtl="0" algn="ctr">
                  <a:lnSpc>
                    <a:spcPct val="1024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27"/>
                  <a:buFont typeface="Arial"/>
                  <a:buNone/>
                </a:pPr>
                <a:r>
                  <a:t/>
                </a:r>
                <a:endParaRPr b="0" i="0" sz="122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51" name="Google Shape;151;p1"/>
          <p:cNvCxnSpPr/>
          <p:nvPr/>
        </p:nvCxnSpPr>
        <p:spPr>
          <a:xfrm flipH="1" rot="10800000">
            <a:off x="7953566" y="6011555"/>
            <a:ext cx="3989877" cy="546038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"/>
          <p:cNvCxnSpPr/>
          <p:nvPr/>
        </p:nvCxnSpPr>
        <p:spPr>
          <a:xfrm flipH="1" rot="10800000">
            <a:off x="101599" y="148052"/>
            <a:ext cx="2874163" cy="39169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"/>
          <p:cNvCxnSpPr/>
          <p:nvPr/>
        </p:nvCxnSpPr>
        <p:spPr>
          <a:xfrm flipH="1" rot="10800000">
            <a:off x="10605368" y="3492534"/>
            <a:ext cx="1574190" cy="184399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"/>
          <p:cNvCxnSpPr/>
          <p:nvPr/>
        </p:nvCxnSpPr>
        <p:spPr>
          <a:xfrm flipH="1" rot="10800000">
            <a:off x="-80742" y="3933150"/>
            <a:ext cx="2122540" cy="264404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"/>
          <p:cNvSpPr txBox="1"/>
          <p:nvPr/>
        </p:nvSpPr>
        <p:spPr>
          <a:xfrm rot="-484213">
            <a:off x="8208" y="3577087"/>
            <a:ext cx="12706334" cy="1446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Arial"/>
              <a:buNone/>
            </a:pPr>
            <a:r>
              <a:rPr lang="en-GB" sz="8800">
                <a:solidFill>
                  <a:srgbClr val="FFFFFF"/>
                </a:solidFill>
              </a:rPr>
              <a:t>Fourth Down in the NFL</a:t>
            </a:r>
            <a:endParaRPr b="0" i="0" sz="8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 txBox="1"/>
          <p:nvPr/>
        </p:nvSpPr>
        <p:spPr>
          <a:xfrm rot="-467241">
            <a:off x="4920640" y="4725603"/>
            <a:ext cx="4432578" cy="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>
                <a:solidFill>
                  <a:srgbClr val="FFFFFF"/>
                </a:solidFill>
              </a:rPr>
              <a:t>2016-2025</a:t>
            </a:r>
            <a:endParaRPr/>
          </a:p>
        </p:txBody>
      </p:sp>
      <p:grpSp>
        <p:nvGrpSpPr>
          <p:cNvPr id="157" name="Google Shape;157;p1"/>
          <p:cNvGrpSpPr/>
          <p:nvPr/>
        </p:nvGrpSpPr>
        <p:grpSpPr>
          <a:xfrm>
            <a:off x="5392977" y="4945200"/>
            <a:ext cx="3753020" cy="1265521"/>
            <a:chOff x="5255817" y="5018352"/>
            <a:chExt cx="3753020" cy="1265521"/>
          </a:xfrm>
        </p:grpSpPr>
        <p:grpSp>
          <p:nvGrpSpPr>
            <p:cNvPr id="158" name="Google Shape;158;p1"/>
            <p:cNvGrpSpPr/>
            <p:nvPr/>
          </p:nvGrpSpPr>
          <p:grpSpPr>
            <a:xfrm rot="-458096">
              <a:off x="5291534" y="5259449"/>
              <a:ext cx="3681585" cy="783327"/>
              <a:chOff x="4095444" y="5562656"/>
              <a:chExt cx="3681585" cy="783327"/>
            </a:xfrm>
          </p:grpSpPr>
          <p:grpSp>
            <p:nvGrpSpPr>
              <p:cNvPr id="159" name="Google Shape;159;p1"/>
              <p:cNvGrpSpPr/>
              <p:nvPr/>
            </p:nvGrpSpPr>
            <p:grpSpPr>
              <a:xfrm>
                <a:off x="4095444" y="5696049"/>
                <a:ext cx="1764276" cy="428275"/>
                <a:chOff x="0" y="0"/>
                <a:chExt cx="1837943" cy="446158"/>
              </a:xfrm>
            </p:grpSpPr>
            <p:sp>
              <p:nvSpPr>
                <p:cNvPr id="160" name="Google Shape;160;p1"/>
                <p:cNvSpPr/>
                <p:nvPr/>
              </p:nvSpPr>
              <p:spPr>
                <a:xfrm>
                  <a:off x="0" y="0"/>
                  <a:ext cx="1837943" cy="446158"/>
                </a:xfrm>
                <a:custGeom>
                  <a:rect b="b" l="l" r="r" t="t"/>
                  <a:pathLst>
                    <a:path extrusionOk="0" h="446158" w="1837943">
                      <a:moveTo>
                        <a:pt x="1634743" y="0"/>
                      </a:moveTo>
                      <a:lnTo>
                        <a:pt x="0" y="0"/>
                      </a:lnTo>
                      <a:lnTo>
                        <a:pt x="203200" y="446158"/>
                      </a:lnTo>
                      <a:lnTo>
                        <a:pt x="1837943" y="446158"/>
                      </a:lnTo>
                      <a:lnTo>
                        <a:pt x="163474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F2129"/>
                    </a:gs>
                    <a:gs pos="100000">
                      <a:srgbClr val="8D080C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27"/>
                    <a:buFont typeface="Arial"/>
                    <a:buNone/>
                  </a:pPr>
                  <a:r>
                    <a:t/>
                  </a:r>
                  <a:endParaRPr b="0" i="0" sz="122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1"/>
                <p:cNvSpPr txBox="1"/>
                <p:nvPr/>
              </p:nvSpPr>
              <p:spPr>
                <a:xfrm>
                  <a:off x="101600" y="28575"/>
                  <a:ext cx="1634743" cy="417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2575" lIns="32575" spcFirstLastPara="1" rIns="32575" wrap="square" tIns="32575">
                  <a:noAutofit/>
                </a:bodyPr>
                <a:lstStyle/>
                <a:p>
                  <a:pPr indent="0" lvl="0" marL="0" marR="0" rtl="0" algn="ctr">
                    <a:lnSpc>
                      <a:spcPct val="533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27"/>
                    <a:buFont typeface="Arial"/>
                    <a:buNone/>
                  </a:pPr>
                  <a:r>
                    <a:t/>
                  </a:r>
                  <a:endParaRPr b="0" i="0" sz="122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2" name="Google Shape;162;p1"/>
              <p:cNvGrpSpPr/>
              <p:nvPr/>
            </p:nvGrpSpPr>
            <p:grpSpPr>
              <a:xfrm>
                <a:off x="6012753" y="5696049"/>
                <a:ext cx="1764276" cy="428275"/>
                <a:chOff x="0" y="0"/>
                <a:chExt cx="1837943" cy="446158"/>
              </a:xfrm>
            </p:grpSpPr>
            <p:sp>
              <p:nvSpPr>
                <p:cNvPr id="163" name="Google Shape;163;p1"/>
                <p:cNvSpPr/>
                <p:nvPr/>
              </p:nvSpPr>
              <p:spPr>
                <a:xfrm>
                  <a:off x="0" y="0"/>
                  <a:ext cx="1837943" cy="446158"/>
                </a:xfrm>
                <a:custGeom>
                  <a:rect b="b" l="l" r="r" t="t"/>
                  <a:pathLst>
                    <a:path extrusionOk="0" h="446158" w="1837943">
                      <a:moveTo>
                        <a:pt x="203200" y="0"/>
                      </a:moveTo>
                      <a:lnTo>
                        <a:pt x="1837943" y="0"/>
                      </a:lnTo>
                      <a:lnTo>
                        <a:pt x="1634743" y="446158"/>
                      </a:lnTo>
                      <a:lnTo>
                        <a:pt x="0" y="446158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BF2129"/>
                    </a:gs>
                    <a:gs pos="100000">
                      <a:srgbClr val="8D080C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27"/>
                    <a:buFont typeface="Arial"/>
                    <a:buNone/>
                  </a:pPr>
                  <a:r>
                    <a:t/>
                  </a:r>
                  <a:endParaRPr b="0" i="0" sz="122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1"/>
                <p:cNvSpPr txBox="1"/>
                <p:nvPr/>
              </p:nvSpPr>
              <p:spPr>
                <a:xfrm>
                  <a:off x="101600" y="28575"/>
                  <a:ext cx="1634743" cy="4175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2575" lIns="32575" spcFirstLastPara="1" rIns="32575" wrap="square" tIns="32575">
                  <a:noAutofit/>
                </a:bodyPr>
                <a:lstStyle/>
                <a:p>
                  <a:pPr indent="0" lvl="0" marL="0" marR="0" rtl="0" algn="ctr">
                    <a:lnSpc>
                      <a:spcPct val="533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27"/>
                    <a:buFont typeface="Arial"/>
                    <a:buNone/>
                  </a:pPr>
                  <a:r>
                    <a:t/>
                  </a:r>
                  <a:endParaRPr b="0" i="0" sz="122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5" name="Google Shape;165;p1"/>
              <p:cNvGrpSpPr/>
              <p:nvPr/>
            </p:nvGrpSpPr>
            <p:grpSpPr>
              <a:xfrm>
                <a:off x="5607090" y="5562656"/>
                <a:ext cx="658293" cy="783327"/>
                <a:chOff x="0" y="-28575"/>
                <a:chExt cx="635000" cy="755610"/>
              </a:xfrm>
            </p:grpSpPr>
            <p:sp>
              <p:nvSpPr>
                <p:cNvPr id="166" name="Google Shape;166;p1"/>
                <p:cNvSpPr/>
                <p:nvPr/>
              </p:nvSpPr>
              <p:spPr>
                <a:xfrm>
                  <a:off x="0" y="0"/>
                  <a:ext cx="635000" cy="727035"/>
                </a:xfrm>
                <a:custGeom>
                  <a:rect b="b" l="l" r="r" t="t"/>
                  <a:pathLst>
                    <a:path extrusionOk="0" h="727035" w="635000">
                      <a:moveTo>
                        <a:pt x="635000" y="0"/>
                      </a:moveTo>
                      <a:lnTo>
                        <a:pt x="635000" y="612735"/>
                      </a:lnTo>
                      <a:lnTo>
                        <a:pt x="317500" y="727035"/>
                      </a:lnTo>
                      <a:lnTo>
                        <a:pt x="0" y="612735"/>
                      </a:lnTo>
                      <a:lnTo>
                        <a:pt x="0" y="0"/>
                      </a:lnTo>
                      <a:lnTo>
                        <a:pt x="6350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27"/>
                    <a:buFont typeface="Arial"/>
                    <a:buNone/>
                  </a:pPr>
                  <a:r>
                    <a:t/>
                  </a:r>
                  <a:endParaRPr b="0" i="0" sz="122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1"/>
                <p:cNvSpPr txBox="1"/>
                <p:nvPr/>
              </p:nvSpPr>
              <p:spPr>
                <a:xfrm>
                  <a:off x="0" y="-28575"/>
                  <a:ext cx="635000" cy="6413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32575" lIns="32575" spcFirstLastPara="1" rIns="32575" wrap="square" tIns="32575">
                  <a:noAutofit/>
                </a:bodyPr>
                <a:lstStyle/>
                <a:p>
                  <a:pPr indent="0" lvl="0" marL="0" marR="0" rtl="0" algn="ctr">
                    <a:lnSpc>
                      <a:spcPct val="1024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27"/>
                    <a:buFont typeface="Arial"/>
                    <a:buNone/>
                  </a:pPr>
                  <a:r>
                    <a:t/>
                  </a:r>
                  <a:endParaRPr b="0" i="0" sz="122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68" name="Google Shape;168;p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655838" y="5688733"/>
                <a:ext cx="560796" cy="5607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9" name="Google Shape;169;p1"/>
            <p:cNvSpPr txBox="1"/>
            <p:nvPr/>
          </p:nvSpPr>
          <p:spPr>
            <a:xfrm rot="-467331">
              <a:off x="5636738" y="5540047"/>
              <a:ext cx="9701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AFC</a:t>
              </a:r>
              <a:endParaRPr/>
            </a:p>
          </p:txBody>
        </p:sp>
        <p:sp>
          <p:nvSpPr>
            <p:cNvPr id="170" name="Google Shape;170;p1"/>
            <p:cNvSpPr txBox="1"/>
            <p:nvPr/>
          </p:nvSpPr>
          <p:spPr>
            <a:xfrm rot="-467331">
              <a:off x="7610149" y="5276675"/>
              <a:ext cx="9701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0" i="0" lang="en-GB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NFC</a:t>
              </a:r>
              <a:endParaRPr/>
            </a:p>
          </p:txBody>
        </p:sp>
      </p:grpSp>
      <p:sp>
        <p:nvSpPr>
          <p:cNvPr id="171" name="Google Shape;171;p1"/>
          <p:cNvSpPr txBox="1"/>
          <p:nvPr/>
        </p:nvSpPr>
        <p:spPr>
          <a:xfrm flipH="1">
            <a:off x="11573082" y="151602"/>
            <a:ext cx="20433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/>
          <p:nvPr/>
        </p:nvSpPr>
        <p:spPr>
          <a:xfrm flipH="1">
            <a:off x="0" y="4552823"/>
            <a:ext cx="1169758" cy="2305177"/>
          </a:xfrm>
          <a:custGeom>
            <a:rect b="b" l="l" r="r" t="t"/>
            <a:pathLst>
              <a:path extrusionOk="0" h="5756070" w="2429235">
                <a:moveTo>
                  <a:pt x="2429235" y="0"/>
                </a:moveTo>
                <a:lnTo>
                  <a:pt x="0" y="0"/>
                </a:lnTo>
                <a:lnTo>
                  <a:pt x="0" y="5756070"/>
                </a:lnTo>
                <a:lnTo>
                  <a:pt x="2429235" y="5756070"/>
                </a:lnTo>
                <a:lnTo>
                  <a:pt x="2429235" y="0"/>
                </a:lnTo>
                <a:close/>
              </a:path>
            </a:pathLst>
          </a:custGeom>
          <a:blipFill rotWithShape="1">
            <a:blip r:embed="rId9">
              <a:alphaModFix amt="51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0" y="0"/>
            <a:ext cx="5473444" cy="6895415"/>
          </a:xfrm>
          <a:custGeom>
            <a:rect b="b" l="l" r="r" t="t"/>
            <a:pathLst>
              <a:path extrusionOk="0" h="6493945" w="6096000">
                <a:moveTo>
                  <a:pt x="2912541" y="0"/>
                </a:moveTo>
                <a:lnTo>
                  <a:pt x="6096000" y="0"/>
                </a:lnTo>
                <a:lnTo>
                  <a:pt x="1063842" y="6493945"/>
                </a:lnTo>
                <a:lnTo>
                  <a:pt x="0" y="6493945"/>
                </a:lnTo>
                <a:lnTo>
                  <a:pt x="0" y="3758603"/>
                </a:lnTo>
                <a:lnTo>
                  <a:pt x="2912541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35"/>
          <p:cNvGrpSpPr/>
          <p:nvPr/>
        </p:nvGrpSpPr>
        <p:grpSpPr>
          <a:xfrm>
            <a:off x="0" y="-37415"/>
            <a:ext cx="1219300" cy="1897612"/>
            <a:chOff x="-1" y="-1"/>
            <a:chExt cx="3413917" cy="5133734"/>
          </a:xfrm>
        </p:grpSpPr>
        <p:sp>
          <p:nvSpPr>
            <p:cNvPr id="179" name="Google Shape;179;p35"/>
            <p:cNvSpPr/>
            <p:nvPr/>
          </p:nvSpPr>
          <p:spPr>
            <a:xfrm>
              <a:off x="-1" y="0"/>
              <a:ext cx="3413917" cy="5133733"/>
            </a:xfrm>
            <a:custGeom>
              <a:rect b="b" l="l" r="r" t="t"/>
              <a:pathLst>
                <a:path extrusionOk="0" h="4405622" w="3413916">
                  <a:moveTo>
                    <a:pt x="2002873" y="0"/>
                  </a:moveTo>
                  <a:lnTo>
                    <a:pt x="3413916" y="0"/>
                  </a:lnTo>
                  <a:lnTo>
                    <a:pt x="0" y="4405622"/>
                  </a:lnTo>
                  <a:lnTo>
                    <a:pt x="0" y="2584686"/>
                  </a:lnTo>
                  <a:lnTo>
                    <a:pt x="200287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6A020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5"/>
            <p:cNvSpPr/>
            <p:nvPr/>
          </p:nvSpPr>
          <p:spPr>
            <a:xfrm>
              <a:off x="190574" y="-1"/>
              <a:ext cx="2074844" cy="1988457"/>
            </a:xfrm>
            <a:prstGeom prst="parallelogram">
              <a:avLst>
                <a:gd fmla="val 65811" name="adj"/>
              </a:avLst>
            </a:prstGeom>
            <a:solidFill>
              <a:srgbClr val="0133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5"/>
            <p:cNvSpPr/>
            <p:nvPr/>
          </p:nvSpPr>
          <p:spPr>
            <a:xfrm>
              <a:off x="0" y="2554514"/>
              <a:ext cx="1794906" cy="2483969"/>
            </a:xfrm>
            <a:custGeom>
              <a:rect b="b" l="l" r="r" t="t"/>
              <a:pathLst>
                <a:path extrusionOk="0" h="6408909" w="4966263">
                  <a:moveTo>
                    <a:pt x="3387615" y="0"/>
                  </a:moveTo>
                  <a:lnTo>
                    <a:pt x="4966263" y="0"/>
                  </a:lnTo>
                  <a:lnTo>
                    <a:pt x="0" y="6408909"/>
                  </a:lnTo>
                  <a:lnTo>
                    <a:pt x="0" y="4371681"/>
                  </a:lnTo>
                  <a:lnTo>
                    <a:pt x="33876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35"/>
          <p:cNvSpPr/>
          <p:nvPr/>
        </p:nvSpPr>
        <p:spPr>
          <a:xfrm>
            <a:off x="6823829" y="3429000"/>
            <a:ext cx="2476515" cy="3429000"/>
          </a:xfrm>
          <a:custGeom>
            <a:rect b="b" l="l" r="r" t="t"/>
            <a:pathLst>
              <a:path extrusionOk="0" h="3429000" w="2476515">
                <a:moveTo>
                  <a:pt x="0" y="0"/>
                </a:moveTo>
                <a:lnTo>
                  <a:pt x="1007190" y="0"/>
                </a:lnTo>
                <a:lnTo>
                  <a:pt x="2476515" y="3429000"/>
                </a:lnTo>
                <a:lnTo>
                  <a:pt x="1469325" y="342900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6A020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5"/>
          <p:cNvSpPr/>
          <p:nvPr/>
        </p:nvSpPr>
        <p:spPr>
          <a:xfrm>
            <a:off x="7014125" y="2741248"/>
            <a:ext cx="2068211" cy="2809964"/>
          </a:xfrm>
          <a:custGeom>
            <a:rect b="b" l="l" r="r" t="t"/>
            <a:pathLst>
              <a:path extrusionOk="0" h="3429000" w="2476515">
                <a:moveTo>
                  <a:pt x="0" y="0"/>
                </a:moveTo>
                <a:lnTo>
                  <a:pt x="1007190" y="0"/>
                </a:lnTo>
                <a:lnTo>
                  <a:pt x="2476515" y="3429000"/>
                </a:lnTo>
                <a:lnTo>
                  <a:pt x="1469325" y="3429000"/>
                </a:lnTo>
                <a:close/>
              </a:path>
            </a:pathLst>
          </a:custGeom>
          <a:solidFill>
            <a:schemeClr val="accent2">
              <a:alpha val="7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35"/>
          <p:cNvGrpSpPr/>
          <p:nvPr/>
        </p:nvGrpSpPr>
        <p:grpSpPr>
          <a:xfrm>
            <a:off x="995600" y="1838975"/>
            <a:ext cx="5265900" cy="1846937"/>
            <a:chOff x="1080172" y="1356247"/>
            <a:chExt cx="5265900" cy="1846937"/>
          </a:xfrm>
        </p:grpSpPr>
        <p:sp>
          <p:nvSpPr>
            <p:cNvPr id="185" name="Google Shape;185;p35"/>
            <p:cNvSpPr txBox="1"/>
            <p:nvPr/>
          </p:nvSpPr>
          <p:spPr>
            <a:xfrm>
              <a:off x="1080172" y="1356247"/>
              <a:ext cx="5265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accent2"/>
                  </a:solidFill>
                </a:rPr>
                <a:t>Goal of Study</a:t>
              </a:r>
              <a:endParaRPr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5"/>
            <p:cNvSpPr txBox="1"/>
            <p:nvPr/>
          </p:nvSpPr>
          <p:spPr>
            <a:xfrm>
              <a:off x="1080183" y="2002584"/>
              <a:ext cx="51003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Quattrocento Sans"/>
                <a:buNone/>
              </a:pP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This analysis seeks to investigate how NFL teams approach fourth downs, specifically the context surrounding them and what drives their success.</a:t>
              </a:r>
              <a:endParaRPr/>
            </a:p>
          </p:txBody>
        </p:sp>
      </p:grpSp>
      <p:sp>
        <p:nvSpPr>
          <p:cNvPr id="187" name="Google Shape;187;p35"/>
          <p:cNvSpPr/>
          <p:nvPr/>
        </p:nvSpPr>
        <p:spPr>
          <a:xfrm>
            <a:off x="320530" y="6398418"/>
            <a:ext cx="2867170" cy="459582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f7b91b5cb_1_123"/>
          <p:cNvSpPr/>
          <p:nvPr/>
        </p:nvSpPr>
        <p:spPr>
          <a:xfrm>
            <a:off x="7382862" y="2"/>
            <a:ext cx="3716100" cy="5562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df7b91b5cb_1_123"/>
          <p:cNvSpPr/>
          <p:nvPr/>
        </p:nvSpPr>
        <p:spPr>
          <a:xfrm>
            <a:off x="7122513" y="1"/>
            <a:ext cx="5109536" cy="6858000"/>
          </a:xfrm>
          <a:custGeom>
            <a:rect b="b" l="l" r="r" t="t"/>
            <a:pathLst>
              <a:path extrusionOk="0" h="6858000" w="7247569">
                <a:moveTo>
                  <a:pt x="5187666" y="0"/>
                </a:moveTo>
                <a:lnTo>
                  <a:pt x="7247569" y="0"/>
                </a:lnTo>
                <a:lnTo>
                  <a:pt x="7247569" y="3571463"/>
                </a:lnTo>
                <a:lnTo>
                  <a:pt x="4761501" y="6858000"/>
                </a:lnTo>
                <a:lnTo>
                  <a:pt x="0" y="6858000"/>
                </a:lnTo>
                <a:lnTo>
                  <a:pt x="51876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g3df7b91b5cb_1_123"/>
          <p:cNvCxnSpPr/>
          <p:nvPr/>
        </p:nvCxnSpPr>
        <p:spPr>
          <a:xfrm flipH="1">
            <a:off x="10062241" y="139816"/>
            <a:ext cx="857700" cy="164550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g3df7b91b5cb_1_123"/>
          <p:cNvCxnSpPr/>
          <p:nvPr/>
        </p:nvCxnSpPr>
        <p:spPr>
          <a:xfrm flipH="1">
            <a:off x="8993005" y="139816"/>
            <a:ext cx="833400" cy="1645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g3df7b91b5cb_1_123"/>
          <p:cNvSpPr/>
          <p:nvPr/>
        </p:nvSpPr>
        <p:spPr>
          <a:xfrm>
            <a:off x="5446191" y="6491264"/>
            <a:ext cx="1221600" cy="366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df7b91b5cb_1_123"/>
          <p:cNvSpPr/>
          <p:nvPr/>
        </p:nvSpPr>
        <p:spPr>
          <a:xfrm>
            <a:off x="9298434" y="3022600"/>
            <a:ext cx="2973637" cy="3837269"/>
          </a:xfrm>
          <a:custGeom>
            <a:rect b="b" l="l" r="r" t="t"/>
            <a:pathLst>
              <a:path extrusionOk="0" h="3808704" w="4203020">
                <a:moveTo>
                  <a:pt x="2951043" y="0"/>
                </a:moveTo>
                <a:lnTo>
                  <a:pt x="4203020" y="0"/>
                </a:lnTo>
                <a:lnTo>
                  <a:pt x="1251977" y="3808704"/>
                </a:lnTo>
                <a:lnTo>
                  <a:pt x="0" y="3808704"/>
                </a:lnTo>
                <a:lnTo>
                  <a:pt x="29510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3df7b91b5cb_1_123"/>
          <p:cNvCxnSpPr/>
          <p:nvPr/>
        </p:nvCxnSpPr>
        <p:spPr>
          <a:xfrm flipH="1">
            <a:off x="11378954" y="2813932"/>
            <a:ext cx="1116000" cy="204720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df7b91b5cb_1_123"/>
          <p:cNvSpPr txBox="1"/>
          <p:nvPr/>
        </p:nvSpPr>
        <p:spPr>
          <a:xfrm>
            <a:off x="1478871" y="320342"/>
            <a:ext cx="48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338D"/>
                </a:solidFill>
              </a:rPr>
              <a:t>Overall</a:t>
            </a:r>
            <a:r>
              <a:rPr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3600">
                <a:solidFill>
                  <a:srgbClr val="D40505"/>
                </a:solidFill>
              </a:rPr>
              <a:t>Trend</a:t>
            </a:r>
            <a:endParaRPr/>
          </a:p>
        </p:txBody>
      </p:sp>
      <p:sp>
        <p:nvSpPr>
          <p:cNvPr id="200" name="Google Shape;200;g3df7b91b5cb_1_123"/>
          <p:cNvSpPr txBox="1"/>
          <p:nvPr/>
        </p:nvSpPr>
        <p:spPr>
          <a:xfrm>
            <a:off x="303095" y="1111984"/>
            <a:ext cx="827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g3df7b91b5cb_1_123"/>
          <p:cNvSpPr txBox="1"/>
          <p:nvPr/>
        </p:nvSpPr>
        <p:spPr>
          <a:xfrm>
            <a:off x="334990" y="4906591"/>
            <a:ext cx="73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g3df7b91b5cb_1_123"/>
          <p:cNvGrpSpPr/>
          <p:nvPr/>
        </p:nvGrpSpPr>
        <p:grpSpPr>
          <a:xfrm>
            <a:off x="421919" y="5345900"/>
            <a:ext cx="4839626" cy="1274751"/>
            <a:chOff x="482879" y="5361140"/>
            <a:chExt cx="4839626" cy="1274751"/>
          </a:xfrm>
        </p:grpSpPr>
        <p:sp>
          <p:nvSpPr>
            <p:cNvPr id="203" name="Google Shape;203;g3df7b91b5cb_1_123"/>
            <p:cNvSpPr txBox="1"/>
            <p:nvPr/>
          </p:nvSpPr>
          <p:spPr>
            <a:xfrm>
              <a:off x="696805" y="5361140"/>
              <a:ext cx="4614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Fourth down attempt Rate on the rise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4" name="Google Shape;204;g3df7b91b5cb_1_123"/>
            <p:cNvSpPr txBox="1"/>
            <p:nvPr/>
          </p:nvSpPr>
          <p:spPr>
            <a:xfrm>
              <a:off x="696805" y="6005774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23% in the most recent season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5" name="Google Shape;205;g3df7b91b5cb_1_123"/>
            <p:cNvSpPr txBox="1"/>
            <p:nvPr/>
          </p:nvSpPr>
          <p:spPr>
            <a:xfrm>
              <a:off x="696805" y="5683457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12% in 2016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6" name="Google Shape;206;g3df7b91b5cb_1_123"/>
            <p:cNvSpPr txBox="1"/>
            <p:nvPr/>
          </p:nvSpPr>
          <p:spPr>
            <a:xfrm>
              <a:off x="696805" y="6328091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Rate has nearly doubled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207" name="Google Shape;207;g3df7b91b5cb_1_123"/>
            <p:cNvGrpSpPr/>
            <p:nvPr/>
          </p:nvGrpSpPr>
          <p:grpSpPr>
            <a:xfrm>
              <a:off x="482879" y="5431374"/>
              <a:ext cx="166950" cy="166950"/>
              <a:chOff x="5857448" y="5537910"/>
              <a:chExt cx="477000" cy="477000"/>
            </a:xfrm>
          </p:grpSpPr>
          <p:sp>
            <p:nvSpPr>
              <p:cNvPr id="208" name="Google Shape;208;g3df7b91b5cb_1_123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rgbClr val="D40505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g3df7b91b5cb_1_123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g3df7b91b5cb_1_123"/>
            <p:cNvGrpSpPr/>
            <p:nvPr/>
          </p:nvGrpSpPr>
          <p:grpSpPr>
            <a:xfrm>
              <a:off x="482879" y="5753691"/>
              <a:ext cx="166950" cy="166950"/>
              <a:chOff x="5857448" y="5537910"/>
              <a:chExt cx="477000" cy="477000"/>
            </a:xfrm>
          </p:grpSpPr>
          <p:sp>
            <p:nvSpPr>
              <p:cNvPr id="211" name="Google Shape;211;g3df7b91b5cb_1_123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g3df7b91b5cb_1_123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g3df7b91b5cb_1_123"/>
            <p:cNvGrpSpPr/>
            <p:nvPr/>
          </p:nvGrpSpPr>
          <p:grpSpPr>
            <a:xfrm>
              <a:off x="482879" y="6076008"/>
              <a:ext cx="166950" cy="166950"/>
              <a:chOff x="5857448" y="5537910"/>
              <a:chExt cx="477000" cy="477000"/>
            </a:xfrm>
          </p:grpSpPr>
          <p:sp>
            <p:nvSpPr>
              <p:cNvPr id="214" name="Google Shape;214;g3df7b91b5cb_1_123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rgbClr val="D40505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g3df7b91b5cb_1_123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g3df7b91b5cb_1_123"/>
            <p:cNvGrpSpPr/>
            <p:nvPr/>
          </p:nvGrpSpPr>
          <p:grpSpPr>
            <a:xfrm>
              <a:off x="482879" y="6398325"/>
              <a:ext cx="166950" cy="166950"/>
              <a:chOff x="5857448" y="5537910"/>
              <a:chExt cx="477000" cy="477000"/>
            </a:xfrm>
          </p:grpSpPr>
          <p:sp>
            <p:nvSpPr>
              <p:cNvPr id="217" name="Google Shape;217;g3df7b91b5cb_1_123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3df7b91b5cb_1_123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9" name="Google Shape;219;g3df7b91b5cb_1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475" y="1238673"/>
            <a:ext cx="6633553" cy="38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3530600" y="0"/>
            <a:ext cx="8661400" cy="6866191"/>
          </a:xfrm>
          <a:custGeom>
            <a:rect b="b" l="l" r="r" t="t"/>
            <a:pathLst>
              <a:path extrusionOk="0" h="6883400" w="8661400">
                <a:moveTo>
                  <a:pt x="3440437" y="0"/>
                </a:moveTo>
                <a:lnTo>
                  <a:pt x="8661400" y="0"/>
                </a:lnTo>
                <a:lnTo>
                  <a:pt x="8661400" y="6856911"/>
                </a:lnTo>
                <a:lnTo>
                  <a:pt x="0" y="6883400"/>
                </a:lnTo>
                <a:lnTo>
                  <a:pt x="3440437" y="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8D080C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965200" y="333131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338D"/>
                </a:solidFill>
              </a:rPr>
              <a:t>Distance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430475" y="1117200"/>
            <a:ext cx="4271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Yards to go can be </a:t>
            </a:r>
            <a:r>
              <a:rPr lang="en-GB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broken up into 3 distinct categories: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-"/>
            </a:pPr>
            <a:r>
              <a:rPr lang="en-GB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Short: 1-3 yards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-"/>
            </a:pPr>
            <a:r>
              <a:rPr lang="en-GB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Medium: 4-6 yards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-"/>
            </a:pPr>
            <a:r>
              <a:rPr lang="en-GB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Long: 7+ yards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27" name="Google Shape;227;p13"/>
          <p:cNvGrpSpPr/>
          <p:nvPr/>
        </p:nvGrpSpPr>
        <p:grpSpPr>
          <a:xfrm>
            <a:off x="7999039" y="3071963"/>
            <a:ext cx="4019501" cy="2584053"/>
            <a:chOff x="8027614" y="2586801"/>
            <a:chExt cx="4019501" cy="2584053"/>
          </a:xfrm>
        </p:grpSpPr>
        <p:sp>
          <p:nvSpPr>
            <p:cNvPr id="228" name="Google Shape;228;p13"/>
            <p:cNvSpPr txBox="1"/>
            <p:nvPr/>
          </p:nvSpPr>
          <p:spPr>
            <a:xfrm>
              <a:off x="8027614" y="2586801"/>
              <a:ext cx="2368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13"/>
            <p:cNvGrpSpPr/>
            <p:nvPr/>
          </p:nvGrpSpPr>
          <p:grpSpPr>
            <a:xfrm>
              <a:off x="8141292" y="3212812"/>
              <a:ext cx="3905823" cy="1958042"/>
              <a:chOff x="8141292" y="3212812"/>
              <a:chExt cx="3905823" cy="1958042"/>
            </a:xfrm>
          </p:grpSpPr>
          <p:grpSp>
            <p:nvGrpSpPr>
              <p:cNvPr id="230" name="Google Shape;230;p13"/>
              <p:cNvGrpSpPr/>
              <p:nvPr/>
            </p:nvGrpSpPr>
            <p:grpSpPr>
              <a:xfrm>
                <a:off x="8141292" y="3286422"/>
                <a:ext cx="167006" cy="167002"/>
                <a:chOff x="5857448" y="5537808"/>
                <a:chExt cx="477102" cy="477102"/>
              </a:xfrm>
            </p:grpSpPr>
            <p:sp>
              <p:nvSpPr>
                <p:cNvPr id="231" name="Google Shape;231;p13"/>
                <p:cNvSpPr/>
                <p:nvPr/>
              </p:nvSpPr>
              <p:spPr>
                <a:xfrm rot="-5400000">
                  <a:off x="5857448" y="5537808"/>
                  <a:ext cx="477102" cy="47710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13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3" name="Google Shape;233;p13"/>
              <p:cNvSpPr txBox="1"/>
              <p:nvPr/>
            </p:nvSpPr>
            <p:spPr>
              <a:xfrm>
                <a:off x="8349615" y="3212812"/>
                <a:ext cx="3581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Short attempts have seen the most growth (up to over 50%)</a:t>
                </a:r>
                <a:endParaRPr sz="14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34" name="Google Shape;234;p13"/>
              <p:cNvSpPr txBox="1"/>
              <p:nvPr/>
            </p:nvSpPr>
            <p:spPr>
              <a:xfrm>
                <a:off x="8349615" y="3930233"/>
                <a:ext cx="35838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Followed by Medium (doubled from 9-18%)</a:t>
                </a:r>
                <a:endParaRPr sz="14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grpSp>
            <p:nvGrpSpPr>
              <p:cNvPr id="235" name="Google Shape;235;p13"/>
              <p:cNvGrpSpPr/>
              <p:nvPr/>
            </p:nvGrpSpPr>
            <p:grpSpPr>
              <a:xfrm>
                <a:off x="8141292" y="4007677"/>
                <a:ext cx="167006" cy="167002"/>
                <a:chOff x="5857448" y="5537808"/>
                <a:chExt cx="477102" cy="477102"/>
              </a:xfrm>
            </p:grpSpPr>
            <p:sp>
              <p:nvSpPr>
                <p:cNvPr id="236" name="Google Shape;236;p13"/>
                <p:cNvSpPr/>
                <p:nvPr/>
              </p:nvSpPr>
              <p:spPr>
                <a:xfrm rot="-5400000">
                  <a:off x="5857448" y="5537808"/>
                  <a:ext cx="477102" cy="47710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13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8" name="Google Shape;238;p13"/>
              <p:cNvGrpSpPr/>
              <p:nvPr/>
            </p:nvGrpSpPr>
            <p:grpSpPr>
              <a:xfrm>
                <a:off x="8141292" y="4647654"/>
                <a:ext cx="3905823" cy="523200"/>
                <a:chOff x="8141292" y="4647654"/>
                <a:chExt cx="3905823" cy="523200"/>
              </a:xfrm>
            </p:grpSpPr>
            <p:sp>
              <p:nvSpPr>
                <p:cNvPr id="239" name="Google Shape;239;p13"/>
                <p:cNvSpPr txBox="1"/>
                <p:nvPr/>
              </p:nvSpPr>
              <p:spPr>
                <a:xfrm>
                  <a:off x="8349615" y="4647654"/>
                  <a:ext cx="36975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solidFill>
                        <a:schemeClr val="lt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Long attempts have seen the least growth (5-7%)</a:t>
                  </a:r>
                  <a:endParaRPr sz="1400">
                    <a:solidFill>
                      <a:schemeClr val="lt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  <p:grpSp>
              <p:nvGrpSpPr>
                <p:cNvPr id="240" name="Google Shape;240;p13"/>
                <p:cNvGrpSpPr/>
                <p:nvPr/>
              </p:nvGrpSpPr>
              <p:grpSpPr>
                <a:xfrm>
                  <a:off x="8141292" y="4718041"/>
                  <a:ext cx="167006" cy="167002"/>
                  <a:chOff x="5857448" y="5537808"/>
                  <a:chExt cx="477102" cy="477102"/>
                </a:xfrm>
              </p:grpSpPr>
              <p:sp>
                <p:nvSpPr>
                  <p:cNvPr id="241" name="Google Shape;241;p13"/>
                  <p:cNvSpPr/>
                  <p:nvPr/>
                </p:nvSpPr>
                <p:spPr>
                  <a:xfrm rot="-5400000">
                    <a:off x="5857448" y="5537808"/>
                    <a:ext cx="477102" cy="477102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177800" rotWithShape="0" algn="ctr" dir="5400000" dist="63500">
                      <a:srgbClr val="000000">
                        <a:alpha val="25098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13"/>
                  <p:cNvSpPr/>
                  <p:nvPr/>
                </p:nvSpPr>
                <p:spPr>
                  <a:xfrm rot="5400000">
                    <a:off x="5965249" y="5700323"/>
                    <a:ext cx="261501" cy="163155"/>
                  </a:xfrm>
                  <a:custGeom>
                    <a:rect b="b" l="l" r="r" t="t"/>
                    <a:pathLst>
                      <a:path extrusionOk="0" h="207" w="333">
                        <a:moveTo>
                          <a:pt x="167" y="0"/>
                        </a:moveTo>
                        <a:cubicBezTo>
                          <a:pt x="177" y="0"/>
                          <a:pt x="187" y="4"/>
                          <a:pt x="195" y="12"/>
                        </a:cubicBezTo>
                        <a:cubicBezTo>
                          <a:pt x="318" y="135"/>
                          <a:pt x="318" y="135"/>
                          <a:pt x="318" y="135"/>
                        </a:cubicBezTo>
                        <a:cubicBezTo>
                          <a:pt x="333" y="150"/>
                          <a:pt x="333" y="176"/>
                          <a:pt x="318" y="191"/>
                        </a:cubicBezTo>
                        <a:cubicBezTo>
                          <a:pt x="302" y="207"/>
                          <a:pt x="277" y="207"/>
                          <a:pt x="261" y="191"/>
                        </a:cubicBezTo>
                        <a:cubicBezTo>
                          <a:pt x="167" y="97"/>
                          <a:pt x="167" y="97"/>
                          <a:pt x="167" y="97"/>
                        </a:cubicBezTo>
                        <a:cubicBezTo>
                          <a:pt x="72" y="191"/>
                          <a:pt x="72" y="191"/>
                          <a:pt x="72" y="191"/>
                        </a:cubicBezTo>
                        <a:cubicBezTo>
                          <a:pt x="57" y="207"/>
                          <a:pt x="32" y="207"/>
                          <a:pt x="16" y="191"/>
                        </a:cubicBezTo>
                        <a:cubicBezTo>
                          <a:pt x="0" y="176"/>
                          <a:pt x="0" y="150"/>
                          <a:pt x="16" y="135"/>
                        </a:cubicBezTo>
                        <a:cubicBezTo>
                          <a:pt x="139" y="12"/>
                          <a:pt x="139" y="12"/>
                          <a:pt x="139" y="12"/>
                        </a:cubicBezTo>
                        <a:cubicBezTo>
                          <a:pt x="146" y="4"/>
                          <a:pt x="157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pic>
        <p:nvPicPr>
          <p:cNvPr id="243" name="Google Shape;24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63" y="2650449"/>
            <a:ext cx="7683874" cy="402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/>
          <p:nvPr/>
        </p:nvSpPr>
        <p:spPr>
          <a:xfrm>
            <a:off x="1" y="-1"/>
            <a:ext cx="8772907" cy="6858002"/>
          </a:xfrm>
          <a:custGeom>
            <a:rect b="b" l="l" r="r" t="t"/>
            <a:pathLst>
              <a:path extrusionOk="0" h="6858002" w="8772906">
                <a:moveTo>
                  <a:pt x="0" y="0"/>
                </a:moveTo>
                <a:lnTo>
                  <a:pt x="3153618" y="0"/>
                </a:lnTo>
                <a:lnTo>
                  <a:pt x="3153618" y="2"/>
                </a:lnTo>
                <a:lnTo>
                  <a:pt x="8772906" y="2"/>
                </a:lnTo>
                <a:lnTo>
                  <a:pt x="3458642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8D080C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11123068" y="6398420"/>
            <a:ext cx="988635" cy="459582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930340" y="372630"/>
            <a:ext cx="387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</a:rPr>
              <a:t>Time</a:t>
            </a:r>
            <a:endParaRPr/>
          </a:p>
        </p:txBody>
      </p:sp>
      <p:sp>
        <p:nvSpPr>
          <p:cNvPr id="251" name="Google Shape;251;p4"/>
          <p:cNvSpPr txBox="1"/>
          <p:nvPr/>
        </p:nvSpPr>
        <p:spPr>
          <a:xfrm>
            <a:off x="358133" y="1178249"/>
            <a:ext cx="424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There are two ways to view time in an NFL game, quarter and time remaining</a:t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52" name="Google Shape;252;p4"/>
          <p:cNvGrpSpPr/>
          <p:nvPr/>
        </p:nvGrpSpPr>
        <p:grpSpPr>
          <a:xfrm>
            <a:off x="8479605" y="-146871"/>
            <a:ext cx="3576897" cy="2501038"/>
            <a:chOff x="8124438" y="3857738"/>
            <a:chExt cx="3576897" cy="2501038"/>
          </a:xfrm>
        </p:grpSpPr>
        <p:sp>
          <p:nvSpPr>
            <p:cNvPr id="253" name="Google Shape;253;p4"/>
            <p:cNvSpPr txBox="1"/>
            <p:nvPr/>
          </p:nvSpPr>
          <p:spPr>
            <a:xfrm>
              <a:off x="8124438" y="3857738"/>
              <a:ext cx="2974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p4"/>
            <p:cNvGrpSpPr/>
            <p:nvPr/>
          </p:nvGrpSpPr>
          <p:grpSpPr>
            <a:xfrm>
              <a:off x="8224982" y="4478818"/>
              <a:ext cx="2930353" cy="523200"/>
              <a:chOff x="8343117" y="4188062"/>
              <a:chExt cx="2930353" cy="523200"/>
            </a:xfrm>
          </p:grpSpPr>
          <p:grpSp>
            <p:nvGrpSpPr>
              <p:cNvPr id="255" name="Google Shape;255;p4"/>
              <p:cNvGrpSpPr/>
              <p:nvPr/>
            </p:nvGrpSpPr>
            <p:grpSpPr>
              <a:xfrm>
                <a:off x="8343117" y="4269388"/>
                <a:ext cx="167006" cy="167002"/>
                <a:chOff x="5857448" y="5537808"/>
                <a:chExt cx="477102" cy="477102"/>
              </a:xfrm>
            </p:grpSpPr>
            <p:sp>
              <p:nvSpPr>
                <p:cNvPr id="256" name="Google Shape;256;p4"/>
                <p:cNvSpPr/>
                <p:nvPr/>
              </p:nvSpPr>
              <p:spPr>
                <a:xfrm rot="-5400000">
                  <a:off x="5857448" y="5537808"/>
                  <a:ext cx="477102" cy="477102"/>
                </a:xfrm>
                <a:prstGeom prst="ellipse">
                  <a:avLst/>
                </a:prstGeom>
                <a:solidFill>
                  <a:srgbClr val="D40505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4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8" name="Google Shape;258;p4"/>
              <p:cNvSpPr txBox="1"/>
              <p:nvPr/>
            </p:nvSpPr>
            <p:spPr>
              <a:xfrm>
                <a:off x="8531470" y="4188062"/>
                <a:ext cx="27420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Highest Go Rate in Fourth Quarter</a:t>
                </a:r>
                <a:endParaRPr sz="14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8224982" y="5157197"/>
              <a:ext cx="3155053" cy="307800"/>
              <a:chOff x="8343117" y="4844905"/>
              <a:chExt cx="3155053" cy="307800"/>
            </a:xfrm>
          </p:grpSpPr>
          <p:grpSp>
            <p:nvGrpSpPr>
              <p:cNvPr id="260" name="Google Shape;260;p4"/>
              <p:cNvGrpSpPr/>
              <p:nvPr/>
            </p:nvGrpSpPr>
            <p:grpSpPr>
              <a:xfrm>
                <a:off x="8343117" y="4910120"/>
                <a:ext cx="167006" cy="167002"/>
                <a:chOff x="5857448" y="5537808"/>
                <a:chExt cx="477102" cy="477102"/>
              </a:xfrm>
            </p:grpSpPr>
            <p:sp>
              <p:nvSpPr>
                <p:cNvPr id="261" name="Google Shape;261;p4"/>
                <p:cNvSpPr/>
                <p:nvPr/>
              </p:nvSpPr>
              <p:spPr>
                <a:xfrm rot="-5400000">
                  <a:off x="5857448" y="5537808"/>
                  <a:ext cx="477102" cy="47710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4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3" name="Google Shape;263;p4"/>
              <p:cNvSpPr txBox="1"/>
              <p:nvPr/>
            </p:nvSpPr>
            <p:spPr>
              <a:xfrm>
                <a:off x="8531470" y="4844905"/>
                <a:ext cx="29667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Lowest Go Rate in first quarter</a:t>
                </a:r>
                <a:endParaRPr sz="14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64" name="Google Shape;264;p4"/>
            <p:cNvGrpSpPr/>
            <p:nvPr/>
          </p:nvGrpSpPr>
          <p:grpSpPr>
            <a:xfrm>
              <a:off x="8224982" y="5835576"/>
              <a:ext cx="3476353" cy="523200"/>
              <a:chOff x="8343117" y="5501747"/>
              <a:chExt cx="3476353" cy="523200"/>
            </a:xfrm>
          </p:grpSpPr>
          <p:grpSp>
            <p:nvGrpSpPr>
              <p:cNvPr id="265" name="Google Shape;265;p4"/>
              <p:cNvGrpSpPr/>
              <p:nvPr/>
            </p:nvGrpSpPr>
            <p:grpSpPr>
              <a:xfrm>
                <a:off x="8343117" y="5576535"/>
                <a:ext cx="167006" cy="167002"/>
                <a:chOff x="5857448" y="5537808"/>
                <a:chExt cx="477102" cy="477102"/>
              </a:xfrm>
            </p:grpSpPr>
            <p:sp>
              <p:nvSpPr>
                <p:cNvPr id="266" name="Google Shape;266;p4"/>
                <p:cNvSpPr/>
                <p:nvPr/>
              </p:nvSpPr>
              <p:spPr>
                <a:xfrm rot="-5400000">
                  <a:off x="5857448" y="5537808"/>
                  <a:ext cx="477102" cy="47710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8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4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8" name="Google Shape;268;p4"/>
              <p:cNvSpPr txBox="1"/>
              <p:nvPr/>
            </p:nvSpPr>
            <p:spPr>
              <a:xfrm>
                <a:off x="8531470" y="5501747"/>
                <a:ext cx="32880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Most fourth down attempts </a:t>
                </a: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occur</a:t>
                </a: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with 0-500 seconds left in game</a:t>
                </a:r>
                <a:endParaRPr sz="14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pic>
        <p:nvPicPr>
          <p:cNvPr id="269" name="Google Shape;26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88" y="2449776"/>
            <a:ext cx="5259575" cy="416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557179"/>
            <a:ext cx="5027075" cy="3909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7"/>
          <p:cNvGrpSpPr/>
          <p:nvPr/>
        </p:nvGrpSpPr>
        <p:grpSpPr>
          <a:xfrm>
            <a:off x="84475" y="92050"/>
            <a:ext cx="8887404" cy="6132017"/>
            <a:chOff x="4402850" y="388200"/>
            <a:chExt cx="8887404" cy="6132017"/>
          </a:xfrm>
        </p:grpSpPr>
        <p:sp>
          <p:nvSpPr>
            <p:cNvPr id="276" name="Google Shape;276;p7"/>
            <p:cNvSpPr txBox="1"/>
            <p:nvPr/>
          </p:nvSpPr>
          <p:spPr>
            <a:xfrm>
              <a:off x="4402850" y="388200"/>
              <a:ext cx="7366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rgbClr val="00338D"/>
                  </a:solidFill>
                </a:rPr>
                <a:t>Team Success Rate and Go Rate</a:t>
              </a:r>
              <a:endParaRPr/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6349754" y="847401"/>
              <a:ext cx="6940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278" name="Google Shape;278;p7"/>
            <p:cNvGrpSpPr/>
            <p:nvPr/>
          </p:nvGrpSpPr>
          <p:grpSpPr>
            <a:xfrm>
              <a:off x="5084187" y="5246315"/>
              <a:ext cx="5369110" cy="1273902"/>
              <a:chOff x="5084187" y="5179640"/>
              <a:chExt cx="5369110" cy="1273902"/>
            </a:xfrm>
          </p:grpSpPr>
          <p:grpSp>
            <p:nvGrpSpPr>
              <p:cNvPr id="279" name="Google Shape;279;p7"/>
              <p:cNvGrpSpPr/>
              <p:nvPr/>
            </p:nvGrpSpPr>
            <p:grpSpPr>
              <a:xfrm>
                <a:off x="5084187" y="5179640"/>
                <a:ext cx="5369110" cy="307800"/>
                <a:chOff x="5084187" y="5179640"/>
                <a:chExt cx="5369110" cy="307800"/>
              </a:xfrm>
            </p:grpSpPr>
            <p:grpSp>
              <p:nvGrpSpPr>
                <p:cNvPr id="280" name="Google Shape;280;p7"/>
                <p:cNvGrpSpPr/>
                <p:nvPr/>
              </p:nvGrpSpPr>
              <p:grpSpPr>
                <a:xfrm>
                  <a:off x="5084187" y="5249874"/>
                  <a:ext cx="166950" cy="166950"/>
                  <a:chOff x="5857448" y="5537910"/>
                  <a:chExt cx="477000" cy="477000"/>
                </a:xfrm>
              </p:grpSpPr>
              <p:sp>
                <p:nvSpPr>
                  <p:cNvPr id="281" name="Google Shape;281;p7"/>
                  <p:cNvSpPr/>
                  <p:nvPr/>
                </p:nvSpPr>
                <p:spPr>
                  <a:xfrm rot="-5400000">
                    <a:off x="5857448" y="5537910"/>
                    <a:ext cx="477000" cy="477000"/>
                  </a:xfrm>
                  <a:prstGeom prst="ellipse">
                    <a:avLst/>
                  </a:prstGeom>
                  <a:solidFill>
                    <a:srgbClr val="D40505"/>
                  </a:solidFill>
                  <a:ln>
                    <a:noFill/>
                  </a:ln>
                  <a:effectLst>
                    <a:outerShdw blurRad="177800" rotWithShape="0" algn="ctr" dir="5400000" dist="63500">
                      <a:srgbClr val="000000">
                        <a:alpha val="25099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2" name="Google Shape;282;p7"/>
                  <p:cNvSpPr/>
                  <p:nvPr/>
                </p:nvSpPr>
                <p:spPr>
                  <a:xfrm rot="5400000">
                    <a:off x="5965249" y="5700323"/>
                    <a:ext cx="261501" cy="163155"/>
                  </a:xfrm>
                  <a:custGeom>
                    <a:rect b="b" l="l" r="r" t="t"/>
                    <a:pathLst>
                      <a:path extrusionOk="0" h="207" w="333">
                        <a:moveTo>
                          <a:pt x="167" y="0"/>
                        </a:moveTo>
                        <a:cubicBezTo>
                          <a:pt x="177" y="0"/>
                          <a:pt x="187" y="4"/>
                          <a:pt x="195" y="12"/>
                        </a:cubicBezTo>
                        <a:cubicBezTo>
                          <a:pt x="318" y="135"/>
                          <a:pt x="318" y="135"/>
                          <a:pt x="318" y="135"/>
                        </a:cubicBezTo>
                        <a:cubicBezTo>
                          <a:pt x="333" y="150"/>
                          <a:pt x="333" y="176"/>
                          <a:pt x="318" y="191"/>
                        </a:cubicBezTo>
                        <a:cubicBezTo>
                          <a:pt x="302" y="207"/>
                          <a:pt x="277" y="207"/>
                          <a:pt x="261" y="191"/>
                        </a:cubicBezTo>
                        <a:cubicBezTo>
                          <a:pt x="167" y="97"/>
                          <a:pt x="167" y="97"/>
                          <a:pt x="167" y="97"/>
                        </a:cubicBezTo>
                        <a:cubicBezTo>
                          <a:pt x="72" y="191"/>
                          <a:pt x="72" y="191"/>
                          <a:pt x="72" y="191"/>
                        </a:cubicBezTo>
                        <a:cubicBezTo>
                          <a:pt x="57" y="207"/>
                          <a:pt x="32" y="207"/>
                          <a:pt x="16" y="191"/>
                        </a:cubicBezTo>
                        <a:cubicBezTo>
                          <a:pt x="0" y="176"/>
                          <a:pt x="0" y="150"/>
                          <a:pt x="16" y="135"/>
                        </a:cubicBezTo>
                        <a:cubicBezTo>
                          <a:pt x="139" y="12"/>
                          <a:pt x="139" y="12"/>
                          <a:pt x="139" y="12"/>
                        </a:cubicBezTo>
                        <a:cubicBezTo>
                          <a:pt x="146" y="4"/>
                          <a:pt x="157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3" name="Google Shape;283;p7"/>
                <p:cNvSpPr txBox="1"/>
                <p:nvPr/>
              </p:nvSpPr>
              <p:spPr>
                <a:xfrm>
                  <a:off x="5343397" y="5179640"/>
                  <a:ext cx="51099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solidFill>
                        <a:schemeClr val="dk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quadrant 2: successful and conservative </a:t>
                  </a:r>
                  <a:endParaRPr sz="14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284" name="Google Shape;284;p7"/>
              <p:cNvGrpSpPr/>
              <p:nvPr/>
            </p:nvGrpSpPr>
            <p:grpSpPr>
              <a:xfrm>
                <a:off x="5084187" y="5662691"/>
                <a:ext cx="5369110" cy="307800"/>
                <a:chOff x="5084187" y="5662691"/>
                <a:chExt cx="5369110" cy="307800"/>
              </a:xfrm>
            </p:grpSpPr>
            <p:grpSp>
              <p:nvGrpSpPr>
                <p:cNvPr id="285" name="Google Shape;285;p7"/>
                <p:cNvGrpSpPr/>
                <p:nvPr/>
              </p:nvGrpSpPr>
              <p:grpSpPr>
                <a:xfrm>
                  <a:off x="5084187" y="5732925"/>
                  <a:ext cx="166950" cy="166950"/>
                  <a:chOff x="5857448" y="5537910"/>
                  <a:chExt cx="477000" cy="477000"/>
                </a:xfrm>
              </p:grpSpPr>
              <p:sp>
                <p:nvSpPr>
                  <p:cNvPr id="286" name="Google Shape;286;p7"/>
                  <p:cNvSpPr/>
                  <p:nvPr/>
                </p:nvSpPr>
                <p:spPr>
                  <a:xfrm rot="-5400000">
                    <a:off x="5857448" y="5537910"/>
                    <a:ext cx="477000" cy="4770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>
                    <a:outerShdw blurRad="177800" rotWithShape="0" algn="ctr" dir="5400000" dist="63500">
                      <a:srgbClr val="000000">
                        <a:alpha val="25099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87" name="Google Shape;287;p7"/>
                  <p:cNvSpPr/>
                  <p:nvPr/>
                </p:nvSpPr>
                <p:spPr>
                  <a:xfrm rot="5400000">
                    <a:off x="5965249" y="5700323"/>
                    <a:ext cx="261501" cy="163155"/>
                  </a:xfrm>
                  <a:custGeom>
                    <a:rect b="b" l="l" r="r" t="t"/>
                    <a:pathLst>
                      <a:path extrusionOk="0" h="207" w="333">
                        <a:moveTo>
                          <a:pt x="167" y="0"/>
                        </a:moveTo>
                        <a:cubicBezTo>
                          <a:pt x="177" y="0"/>
                          <a:pt x="187" y="4"/>
                          <a:pt x="195" y="12"/>
                        </a:cubicBezTo>
                        <a:cubicBezTo>
                          <a:pt x="318" y="135"/>
                          <a:pt x="318" y="135"/>
                          <a:pt x="318" y="135"/>
                        </a:cubicBezTo>
                        <a:cubicBezTo>
                          <a:pt x="333" y="150"/>
                          <a:pt x="333" y="176"/>
                          <a:pt x="318" y="191"/>
                        </a:cubicBezTo>
                        <a:cubicBezTo>
                          <a:pt x="302" y="207"/>
                          <a:pt x="277" y="207"/>
                          <a:pt x="261" y="191"/>
                        </a:cubicBezTo>
                        <a:cubicBezTo>
                          <a:pt x="167" y="97"/>
                          <a:pt x="167" y="97"/>
                          <a:pt x="167" y="97"/>
                        </a:cubicBezTo>
                        <a:cubicBezTo>
                          <a:pt x="72" y="191"/>
                          <a:pt x="72" y="191"/>
                          <a:pt x="72" y="191"/>
                        </a:cubicBezTo>
                        <a:cubicBezTo>
                          <a:pt x="57" y="207"/>
                          <a:pt x="32" y="207"/>
                          <a:pt x="16" y="191"/>
                        </a:cubicBezTo>
                        <a:cubicBezTo>
                          <a:pt x="0" y="176"/>
                          <a:pt x="0" y="150"/>
                          <a:pt x="16" y="135"/>
                        </a:cubicBezTo>
                        <a:cubicBezTo>
                          <a:pt x="139" y="12"/>
                          <a:pt x="139" y="12"/>
                          <a:pt x="139" y="12"/>
                        </a:cubicBezTo>
                        <a:cubicBezTo>
                          <a:pt x="146" y="4"/>
                          <a:pt x="157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88" name="Google Shape;288;p7"/>
                <p:cNvSpPr txBox="1"/>
                <p:nvPr/>
              </p:nvSpPr>
              <p:spPr>
                <a:xfrm>
                  <a:off x="5343397" y="5662691"/>
                  <a:ext cx="51099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solidFill>
                        <a:schemeClr val="dk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quadrant 3: unsuccessful and conservative </a:t>
                  </a:r>
                  <a:endParaRPr sz="14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289" name="Google Shape;289;p7"/>
              <p:cNvGrpSpPr/>
              <p:nvPr/>
            </p:nvGrpSpPr>
            <p:grpSpPr>
              <a:xfrm>
                <a:off x="5084187" y="6145742"/>
                <a:ext cx="5369110" cy="307800"/>
                <a:chOff x="5084187" y="6145742"/>
                <a:chExt cx="5369110" cy="307800"/>
              </a:xfrm>
            </p:grpSpPr>
            <p:grpSp>
              <p:nvGrpSpPr>
                <p:cNvPr id="290" name="Google Shape;290;p7"/>
                <p:cNvGrpSpPr/>
                <p:nvPr/>
              </p:nvGrpSpPr>
              <p:grpSpPr>
                <a:xfrm>
                  <a:off x="5084187" y="6215976"/>
                  <a:ext cx="166950" cy="166950"/>
                  <a:chOff x="5857448" y="5537910"/>
                  <a:chExt cx="477000" cy="477000"/>
                </a:xfrm>
              </p:grpSpPr>
              <p:sp>
                <p:nvSpPr>
                  <p:cNvPr id="291" name="Google Shape;291;p7"/>
                  <p:cNvSpPr/>
                  <p:nvPr/>
                </p:nvSpPr>
                <p:spPr>
                  <a:xfrm rot="-5400000">
                    <a:off x="5857448" y="5537910"/>
                    <a:ext cx="477000" cy="477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177800" rotWithShape="0" algn="ctr" dir="5400000" dist="63500">
                      <a:srgbClr val="000000">
                        <a:alpha val="25099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92" name="Google Shape;292;p7"/>
                  <p:cNvSpPr/>
                  <p:nvPr/>
                </p:nvSpPr>
                <p:spPr>
                  <a:xfrm rot="5400000">
                    <a:off x="5965249" y="5700323"/>
                    <a:ext cx="261501" cy="163155"/>
                  </a:xfrm>
                  <a:custGeom>
                    <a:rect b="b" l="l" r="r" t="t"/>
                    <a:pathLst>
                      <a:path extrusionOk="0" h="207" w="333">
                        <a:moveTo>
                          <a:pt x="167" y="0"/>
                        </a:moveTo>
                        <a:cubicBezTo>
                          <a:pt x="177" y="0"/>
                          <a:pt x="187" y="4"/>
                          <a:pt x="195" y="12"/>
                        </a:cubicBezTo>
                        <a:cubicBezTo>
                          <a:pt x="318" y="135"/>
                          <a:pt x="318" y="135"/>
                          <a:pt x="318" y="135"/>
                        </a:cubicBezTo>
                        <a:cubicBezTo>
                          <a:pt x="333" y="150"/>
                          <a:pt x="333" y="176"/>
                          <a:pt x="318" y="191"/>
                        </a:cubicBezTo>
                        <a:cubicBezTo>
                          <a:pt x="302" y="207"/>
                          <a:pt x="277" y="207"/>
                          <a:pt x="261" y="191"/>
                        </a:cubicBezTo>
                        <a:cubicBezTo>
                          <a:pt x="167" y="97"/>
                          <a:pt x="167" y="97"/>
                          <a:pt x="167" y="97"/>
                        </a:cubicBezTo>
                        <a:cubicBezTo>
                          <a:pt x="72" y="191"/>
                          <a:pt x="72" y="191"/>
                          <a:pt x="72" y="191"/>
                        </a:cubicBezTo>
                        <a:cubicBezTo>
                          <a:pt x="57" y="207"/>
                          <a:pt x="32" y="207"/>
                          <a:pt x="16" y="191"/>
                        </a:cubicBezTo>
                        <a:cubicBezTo>
                          <a:pt x="0" y="176"/>
                          <a:pt x="0" y="150"/>
                          <a:pt x="16" y="135"/>
                        </a:cubicBezTo>
                        <a:cubicBezTo>
                          <a:pt x="139" y="12"/>
                          <a:pt x="139" y="12"/>
                          <a:pt x="139" y="12"/>
                        </a:cubicBezTo>
                        <a:cubicBezTo>
                          <a:pt x="146" y="4"/>
                          <a:pt x="157" y="0"/>
                          <a:pt x="167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t" bIns="34275" lIns="68575" spcFirstLastPara="1" rIns="68575" wrap="square" tIns="342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35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93" name="Google Shape;293;p7"/>
                <p:cNvSpPr txBox="1"/>
                <p:nvPr/>
              </p:nvSpPr>
              <p:spPr>
                <a:xfrm>
                  <a:off x="5343397" y="6145742"/>
                  <a:ext cx="51099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>
                      <a:solidFill>
                        <a:schemeClr val="dk1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quadrant 4: unsuccessful and aggressive</a:t>
                  </a:r>
                  <a:endParaRPr sz="1400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</p:grpSp>
      <p:grpSp>
        <p:nvGrpSpPr>
          <p:cNvPr id="294" name="Google Shape;294;p7"/>
          <p:cNvGrpSpPr/>
          <p:nvPr/>
        </p:nvGrpSpPr>
        <p:grpSpPr>
          <a:xfrm>
            <a:off x="1043722" y="4054384"/>
            <a:ext cx="5109900" cy="768807"/>
            <a:chOff x="2084072" y="5772559"/>
            <a:chExt cx="5109900" cy="768807"/>
          </a:xfrm>
        </p:grpSpPr>
        <p:sp>
          <p:nvSpPr>
            <p:cNvPr id="295" name="Google Shape;295;p7"/>
            <p:cNvSpPr/>
            <p:nvPr/>
          </p:nvSpPr>
          <p:spPr>
            <a:xfrm rot="5400000">
              <a:off x="5121917" y="5789769"/>
              <a:ext cx="91525" cy="57104"/>
            </a:xfrm>
            <a:custGeom>
              <a:rect b="b" l="l" r="r" t="t"/>
              <a:pathLst>
                <a:path extrusionOk="0" h="207" w="333">
                  <a:moveTo>
                    <a:pt x="167" y="0"/>
                  </a:moveTo>
                  <a:cubicBezTo>
                    <a:pt x="177" y="0"/>
                    <a:pt x="187" y="4"/>
                    <a:pt x="195" y="12"/>
                  </a:cubicBezTo>
                  <a:cubicBezTo>
                    <a:pt x="318" y="135"/>
                    <a:pt x="318" y="135"/>
                    <a:pt x="318" y="135"/>
                  </a:cubicBezTo>
                  <a:cubicBezTo>
                    <a:pt x="333" y="150"/>
                    <a:pt x="333" y="176"/>
                    <a:pt x="318" y="191"/>
                  </a:cubicBezTo>
                  <a:cubicBezTo>
                    <a:pt x="302" y="207"/>
                    <a:pt x="277" y="207"/>
                    <a:pt x="261" y="191"/>
                  </a:cubicBezTo>
                  <a:cubicBezTo>
                    <a:pt x="167" y="97"/>
                    <a:pt x="167" y="97"/>
                    <a:pt x="167" y="97"/>
                  </a:cubicBezTo>
                  <a:cubicBezTo>
                    <a:pt x="72" y="191"/>
                    <a:pt x="72" y="191"/>
                    <a:pt x="72" y="191"/>
                  </a:cubicBezTo>
                  <a:cubicBezTo>
                    <a:pt x="57" y="207"/>
                    <a:pt x="32" y="207"/>
                    <a:pt x="16" y="191"/>
                  </a:cubicBezTo>
                  <a:cubicBezTo>
                    <a:pt x="0" y="176"/>
                    <a:pt x="0" y="150"/>
                    <a:pt x="16" y="135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146" y="4"/>
                    <a:pt x="157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7"/>
            <p:cNvSpPr txBox="1"/>
            <p:nvPr/>
          </p:nvSpPr>
          <p:spPr>
            <a:xfrm>
              <a:off x="2084072" y="6233566"/>
              <a:ext cx="5109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quadrant 1: successful and aggressive 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97" name="Google Shape;297;p7"/>
          <p:cNvSpPr/>
          <p:nvPr/>
        </p:nvSpPr>
        <p:spPr>
          <a:xfrm rot="5400000">
            <a:off x="4231292" y="5790144"/>
            <a:ext cx="91525" cy="57104"/>
          </a:xfrm>
          <a:custGeom>
            <a:rect b="b" l="l" r="r" t="t"/>
            <a:pathLst>
              <a:path extrusionOk="0" h="207" w="333">
                <a:moveTo>
                  <a:pt x="167" y="0"/>
                </a:moveTo>
                <a:cubicBezTo>
                  <a:pt x="177" y="0"/>
                  <a:pt x="187" y="4"/>
                  <a:pt x="195" y="12"/>
                </a:cubicBezTo>
                <a:cubicBezTo>
                  <a:pt x="318" y="135"/>
                  <a:pt x="318" y="135"/>
                  <a:pt x="318" y="135"/>
                </a:cubicBezTo>
                <a:cubicBezTo>
                  <a:pt x="333" y="150"/>
                  <a:pt x="333" y="176"/>
                  <a:pt x="318" y="191"/>
                </a:cubicBezTo>
                <a:cubicBezTo>
                  <a:pt x="302" y="207"/>
                  <a:pt x="277" y="207"/>
                  <a:pt x="261" y="191"/>
                </a:cubicBezTo>
                <a:cubicBezTo>
                  <a:pt x="167" y="97"/>
                  <a:pt x="167" y="97"/>
                  <a:pt x="167" y="97"/>
                </a:cubicBezTo>
                <a:cubicBezTo>
                  <a:pt x="72" y="191"/>
                  <a:pt x="72" y="191"/>
                  <a:pt x="72" y="191"/>
                </a:cubicBezTo>
                <a:cubicBezTo>
                  <a:pt x="57" y="207"/>
                  <a:pt x="32" y="207"/>
                  <a:pt x="16" y="191"/>
                </a:cubicBezTo>
                <a:cubicBezTo>
                  <a:pt x="0" y="176"/>
                  <a:pt x="0" y="150"/>
                  <a:pt x="16" y="135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6" y="4"/>
                  <a:pt x="157" y="0"/>
                  <a:pt x="1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765801" y="4620853"/>
            <a:ext cx="236275" cy="20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5276" y="971050"/>
            <a:ext cx="5931626" cy="52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f7b91b5cb_1_30"/>
          <p:cNvSpPr/>
          <p:nvPr/>
        </p:nvSpPr>
        <p:spPr>
          <a:xfrm>
            <a:off x="7382862" y="2"/>
            <a:ext cx="3716100" cy="5562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df7b91b5cb_1_30"/>
          <p:cNvSpPr/>
          <p:nvPr/>
        </p:nvSpPr>
        <p:spPr>
          <a:xfrm>
            <a:off x="7122513" y="1"/>
            <a:ext cx="5109536" cy="6858000"/>
          </a:xfrm>
          <a:custGeom>
            <a:rect b="b" l="l" r="r" t="t"/>
            <a:pathLst>
              <a:path extrusionOk="0" h="6858000" w="7247569">
                <a:moveTo>
                  <a:pt x="5187666" y="0"/>
                </a:moveTo>
                <a:lnTo>
                  <a:pt x="7247569" y="0"/>
                </a:lnTo>
                <a:lnTo>
                  <a:pt x="7247569" y="3571463"/>
                </a:lnTo>
                <a:lnTo>
                  <a:pt x="4761501" y="6858000"/>
                </a:lnTo>
                <a:lnTo>
                  <a:pt x="0" y="6858000"/>
                </a:lnTo>
                <a:lnTo>
                  <a:pt x="51876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g3df7b91b5cb_1_30"/>
          <p:cNvCxnSpPr/>
          <p:nvPr/>
        </p:nvCxnSpPr>
        <p:spPr>
          <a:xfrm flipH="1">
            <a:off x="10062241" y="139816"/>
            <a:ext cx="857700" cy="164550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7" name="Google Shape;307;g3df7b91b5cb_1_30"/>
          <p:cNvCxnSpPr/>
          <p:nvPr/>
        </p:nvCxnSpPr>
        <p:spPr>
          <a:xfrm flipH="1">
            <a:off x="8993005" y="139816"/>
            <a:ext cx="833400" cy="1645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g3df7b91b5cb_1_30"/>
          <p:cNvSpPr/>
          <p:nvPr/>
        </p:nvSpPr>
        <p:spPr>
          <a:xfrm>
            <a:off x="5446191" y="6491264"/>
            <a:ext cx="1221600" cy="366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f7b91b5cb_1_30"/>
          <p:cNvSpPr/>
          <p:nvPr/>
        </p:nvSpPr>
        <p:spPr>
          <a:xfrm>
            <a:off x="9298434" y="3022600"/>
            <a:ext cx="2973637" cy="3837269"/>
          </a:xfrm>
          <a:custGeom>
            <a:rect b="b" l="l" r="r" t="t"/>
            <a:pathLst>
              <a:path extrusionOk="0" h="3808704" w="4203020">
                <a:moveTo>
                  <a:pt x="2951043" y="0"/>
                </a:moveTo>
                <a:lnTo>
                  <a:pt x="4203020" y="0"/>
                </a:lnTo>
                <a:lnTo>
                  <a:pt x="1251977" y="3808704"/>
                </a:lnTo>
                <a:lnTo>
                  <a:pt x="0" y="3808704"/>
                </a:lnTo>
                <a:lnTo>
                  <a:pt x="29510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g3df7b91b5cb_1_30"/>
          <p:cNvCxnSpPr/>
          <p:nvPr/>
        </p:nvCxnSpPr>
        <p:spPr>
          <a:xfrm flipH="1">
            <a:off x="11378954" y="2813932"/>
            <a:ext cx="1116000" cy="204720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g3df7b91b5cb_1_30"/>
          <p:cNvSpPr txBox="1"/>
          <p:nvPr/>
        </p:nvSpPr>
        <p:spPr>
          <a:xfrm>
            <a:off x="1478871" y="320342"/>
            <a:ext cx="482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338D"/>
                </a:solidFill>
              </a:rPr>
              <a:t>Pass</a:t>
            </a:r>
            <a:r>
              <a:rPr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3600">
                <a:solidFill>
                  <a:srgbClr val="D40505"/>
                </a:solidFill>
              </a:rPr>
              <a:t>Success Rates</a:t>
            </a:r>
            <a:endParaRPr/>
          </a:p>
        </p:txBody>
      </p:sp>
      <p:sp>
        <p:nvSpPr>
          <p:cNvPr id="312" name="Google Shape;312;g3df7b91b5cb_1_30"/>
          <p:cNvSpPr txBox="1"/>
          <p:nvPr/>
        </p:nvSpPr>
        <p:spPr>
          <a:xfrm>
            <a:off x="303095" y="1111984"/>
            <a:ext cx="827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3" name="Google Shape;313;g3df7b91b5cb_1_30"/>
          <p:cNvSpPr txBox="1"/>
          <p:nvPr/>
        </p:nvSpPr>
        <p:spPr>
          <a:xfrm>
            <a:off x="334990" y="4906591"/>
            <a:ext cx="73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g3df7b91b5cb_1_30"/>
          <p:cNvGrpSpPr/>
          <p:nvPr/>
        </p:nvGrpSpPr>
        <p:grpSpPr>
          <a:xfrm>
            <a:off x="421919" y="5345900"/>
            <a:ext cx="4839626" cy="1274751"/>
            <a:chOff x="482879" y="5361140"/>
            <a:chExt cx="4839626" cy="1274751"/>
          </a:xfrm>
        </p:grpSpPr>
        <p:sp>
          <p:nvSpPr>
            <p:cNvPr id="315" name="Google Shape;315;g3df7b91b5cb_1_30"/>
            <p:cNvSpPr txBox="1"/>
            <p:nvPr/>
          </p:nvSpPr>
          <p:spPr>
            <a:xfrm>
              <a:off x="696805" y="5361140"/>
              <a:ext cx="4614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Offenses have more success vs man rather than zone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16" name="Google Shape;316;g3df7b91b5cb_1_30"/>
            <p:cNvSpPr txBox="1"/>
            <p:nvPr/>
          </p:nvSpPr>
          <p:spPr>
            <a:xfrm>
              <a:off x="696805" y="6005774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Quick outs and slants most effective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17" name="Google Shape;317;g3df7b91b5cb_1_30"/>
            <p:cNvSpPr txBox="1"/>
            <p:nvPr/>
          </p:nvSpPr>
          <p:spPr>
            <a:xfrm>
              <a:off x="696805" y="5683457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Man vs Zone comparisons may carry some bias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18" name="Google Shape;318;g3df7b91b5cb_1_30"/>
            <p:cNvSpPr txBox="1"/>
            <p:nvPr/>
          </p:nvSpPr>
          <p:spPr>
            <a:xfrm>
              <a:off x="696805" y="6328091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Posts and Gos least effective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319" name="Google Shape;319;g3df7b91b5cb_1_30"/>
            <p:cNvGrpSpPr/>
            <p:nvPr/>
          </p:nvGrpSpPr>
          <p:grpSpPr>
            <a:xfrm>
              <a:off x="482879" y="5431374"/>
              <a:ext cx="166950" cy="166950"/>
              <a:chOff x="5857448" y="5537910"/>
              <a:chExt cx="477000" cy="477000"/>
            </a:xfrm>
          </p:grpSpPr>
          <p:sp>
            <p:nvSpPr>
              <p:cNvPr id="320" name="Google Shape;320;g3df7b91b5cb_1_30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rgbClr val="D40505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g3df7b91b5cb_1_30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g3df7b91b5cb_1_30"/>
            <p:cNvGrpSpPr/>
            <p:nvPr/>
          </p:nvGrpSpPr>
          <p:grpSpPr>
            <a:xfrm>
              <a:off x="482879" y="5753691"/>
              <a:ext cx="166950" cy="166950"/>
              <a:chOff x="5857448" y="5537910"/>
              <a:chExt cx="477000" cy="477000"/>
            </a:xfrm>
          </p:grpSpPr>
          <p:sp>
            <p:nvSpPr>
              <p:cNvPr id="323" name="Google Shape;323;g3df7b91b5cb_1_30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g3df7b91b5cb_1_30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g3df7b91b5cb_1_30"/>
            <p:cNvGrpSpPr/>
            <p:nvPr/>
          </p:nvGrpSpPr>
          <p:grpSpPr>
            <a:xfrm>
              <a:off x="482879" y="6076008"/>
              <a:ext cx="166950" cy="166950"/>
              <a:chOff x="5857448" y="5537910"/>
              <a:chExt cx="477000" cy="477000"/>
            </a:xfrm>
          </p:grpSpPr>
          <p:sp>
            <p:nvSpPr>
              <p:cNvPr id="326" name="Google Shape;326;g3df7b91b5cb_1_30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rgbClr val="D40505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g3df7b91b5cb_1_30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8" name="Google Shape;328;g3df7b91b5cb_1_30"/>
            <p:cNvGrpSpPr/>
            <p:nvPr/>
          </p:nvGrpSpPr>
          <p:grpSpPr>
            <a:xfrm>
              <a:off x="482879" y="6398325"/>
              <a:ext cx="166950" cy="166950"/>
              <a:chOff x="5857448" y="5537910"/>
              <a:chExt cx="477000" cy="477000"/>
            </a:xfrm>
          </p:grpSpPr>
          <p:sp>
            <p:nvSpPr>
              <p:cNvPr id="329" name="Google Shape;329;g3df7b91b5cb_1_30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g3df7b91b5cb_1_30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31" name="Google Shape;331;g3df7b91b5cb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100" y="1461124"/>
            <a:ext cx="4958451" cy="356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df7b91b5cb_1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1550" y="1111975"/>
            <a:ext cx="6408451" cy="45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f7b91b5cb_1_66"/>
          <p:cNvSpPr/>
          <p:nvPr/>
        </p:nvSpPr>
        <p:spPr>
          <a:xfrm>
            <a:off x="1" y="-1"/>
            <a:ext cx="8772906" cy="6858002"/>
          </a:xfrm>
          <a:custGeom>
            <a:rect b="b" l="l" r="r" t="t"/>
            <a:pathLst>
              <a:path extrusionOk="0" h="6858002" w="8772906">
                <a:moveTo>
                  <a:pt x="0" y="0"/>
                </a:moveTo>
                <a:lnTo>
                  <a:pt x="3153618" y="0"/>
                </a:lnTo>
                <a:lnTo>
                  <a:pt x="3153618" y="2"/>
                </a:lnTo>
                <a:lnTo>
                  <a:pt x="8772906" y="2"/>
                </a:lnTo>
                <a:lnTo>
                  <a:pt x="3458642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8D080C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df7b91b5cb_1_66"/>
          <p:cNvSpPr/>
          <p:nvPr/>
        </p:nvSpPr>
        <p:spPr>
          <a:xfrm>
            <a:off x="11123068" y="6398420"/>
            <a:ext cx="988500" cy="459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df7b91b5cb_1_66"/>
          <p:cNvSpPr txBox="1"/>
          <p:nvPr/>
        </p:nvSpPr>
        <p:spPr>
          <a:xfrm>
            <a:off x="196925" y="372625"/>
            <a:ext cx="492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</a:rPr>
              <a:t>Run Success Rates</a:t>
            </a:r>
            <a:endParaRPr/>
          </a:p>
        </p:txBody>
      </p:sp>
      <p:sp>
        <p:nvSpPr>
          <p:cNvPr id="340" name="Google Shape;340;g3df7b91b5cb_1_66"/>
          <p:cNvSpPr txBox="1"/>
          <p:nvPr/>
        </p:nvSpPr>
        <p:spPr>
          <a:xfrm>
            <a:off x="358133" y="1178249"/>
            <a:ext cx="424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41" name="Google Shape;341;g3df7b91b5cb_1_66"/>
          <p:cNvGrpSpPr/>
          <p:nvPr/>
        </p:nvGrpSpPr>
        <p:grpSpPr>
          <a:xfrm>
            <a:off x="8296430" y="4"/>
            <a:ext cx="3255597" cy="1607259"/>
            <a:chOff x="8124438" y="3857738"/>
            <a:chExt cx="3255597" cy="1607259"/>
          </a:xfrm>
        </p:grpSpPr>
        <p:sp>
          <p:nvSpPr>
            <p:cNvPr id="342" name="Google Shape;342;g3df7b91b5cb_1_66"/>
            <p:cNvSpPr txBox="1"/>
            <p:nvPr/>
          </p:nvSpPr>
          <p:spPr>
            <a:xfrm>
              <a:off x="8124438" y="3857738"/>
              <a:ext cx="2974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g3df7b91b5cb_1_66"/>
            <p:cNvGrpSpPr/>
            <p:nvPr/>
          </p:nvGrpSpPr>
          <p:grpSpPr>
            <a:xfrm>
              <a:off x="8224733" y="4478818"/>
              <a:ext cx="2930602" cy="523200"/>
              <a:chOff x="8342868" y="4188062"/>
              <a:chExt cx="2930602" cy="523200"/>
            </a:xfrm>
          </p:grpSpPr>
          <p:grpSp>
            <p:nvGrpSpPr>
              <p:cNvPr id="344" name="Google Shape;344;g3df7b91b5cb_1_66"/>
              <p:cNvGrpSpPr/>
              <p:nvPr/>
            </p:nvGrpSpPr>
            <p:grpSpPr>
              <a:xfrm>
                <a:off x="8342868" y="4269235"/>
                <a:ext cx="166950" cy="166950"/>
                <a:chOff x="5857448" y="5537910"/>
                <a:chExt cx="477000" cy="477000"/>
              </a:xfrm>
            </p:grpSpPr>
            <p:sp>
              <p:nvSpPr>
                <p:cNvPr id="345" name="Google Shape;345;g3df7b91b5cb_1_66"/>
                <p:cNvSpPr/>
                <p:nvPr/>
              </p:nvSpPr>
              <p:spPr>
                <a:xfrm rot="-5400000">
                  <a:off x="5857448" y="5537910"/>
                  <a:ext cx="477000" cy="477000"/>
                </a:xfrm>
                <a:prstGeom prst="ellipse">
                  <a:avLst/>
                </a:prstGeom>
                <a:solidFill>
                  <a:srgbClr val="D40505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9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g3df7b91b5cb_1_66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7" name="Google Shape;347;g3df7b91b5cb_1_66"/>
              <p:cNvSpPr txBox="1"/>
              <p:nvPr/>
            </p:nvSpPr>
            <p:spPr>
              <a:xfrm>
                <a:off x="8531470" y="4188062"/>
                <a:ext cx="27420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Empty most </a:t>
                </a: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successful</a:t>
                </a: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offensive formation</a:t>
                </a:r>
                <a:endParaRPr sz="14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348" name="Google Shape;348;g3df7b91b5cb_1_66"/>
            <p:cNvGrpSpPr/>
            <p:nvPr/>
          </p:nvGrpSpPr>
          <p:grpSpPr>
            <a:xfrm>
              <a:off x="8224733" y="5157197"/>
              <a:ext cx="3155302" cy="307800"/>
              <a:chOff x="8342868" y="4844905"/>
              <a:chExt cx="3155302" cy="307800"/>
            </a:xfrm>
          </p:grpSpPr>
          <p:grpSp>
            <p:nvGrpSpPr>
              <p:cNvPr id="349" name="Google Shape;349;g3df7b91b5cb_1_66"/>
              <p:cNvGrpSpPr/>
              <p:nvPr/>
            </p:nvGrpSpPr>
            <p:grpSpPr>
              <a:xfrm>
                <a:off x="8342868" y="4909967"/>
                <a:ext cx="166950" cy="166950"/>
                <a:chOff x="5857448" y="5537910"/>
                <a:chExt cx="477000" cy="477000"/>
              </a:xfrm>
            </p:grpSpPr>
            <p:sp>
              <p:nvSpPr>
                <p:cNvPr id="350" name="Google Shape;350;g3df7b91b5cb_1_66"/>
                <p:cNvSpPr/>
                <p:nvPr/>
              </p:nvSpPr>
              <p:spPr>
                <a:xfrm rot="-5400000">
                  <a:off x="5857448" y="5537910"/>
                  <a:ext cx="477000" cy="477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177800" rotWithShape="0" algn="ctr" dir="5400000" dist="63500">
                    <a:srgbClr val="000000">
                      <a:alpha val="25099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g3df7b91b5cb_1_66"/>
                <p:cNvSpPr/>
                <p:nvPr/>
              </p:nvSpPr>
              <p:spPr>
                <a:xfrm rot="5400000">
                  <a:off x="5965249" y="5700323"/>
                  <a:ext cx="261501" cy="163155"/>
                </a:xfrm>
                <a:custGeom>
                  <a:rect b="b" l="l" r="r" t="t"/>
                  <a:pathLst>
                    <a:path extrusionOk="0" h="207" w="333">
                      <a:moveTo>
                        <a:pt x="167" y="0"/>
                      </a:moveTo>
                      <a:cubicBezTo>
                        <a:pt x="177" y="0"/>
                        <a:pt x="187" y="4"/>
                        <a:pt x="195" y="12"/>
                      </a:cubicBezTo>
                      <a:cubicBezTo>
                        <a:pt x="318" y="135"/>
                        <a:pt x="318" y="135"/>
                        <a:pt x="318" y="135"/>
                      </a:cubicBezTo>
                      <a:cubicBezTo>
                        <a:pt x="333" y="150"/>
                        <a:pt x="333" y="176"/>
                        <a:pt x="318" y="191"/>
                      </a:cubicBezTo>
                      <a:cubicBezTo>
                        <a:pt x="302" y="207"/>
                        <a:pt x="277" y="207"/>
                        <a:pt x="261" y="191"/>
                      </a:cubicBezTo>
                      <a:cubicBezTo>
                        <a:pt x="167" y="97"/>
                        <a:pt x="167" y="97"/>
                        <a:pt x="167" y="97"/>
                      </a:cubicBezTo>
                      <a:cubicBezTo>
                        <a:pt x="72" y="191"/>
                        <a:pt x="72" y="191"/>
                        <a:pt x="72" y="191"/>
                      </a:cubicBezTo>
                      <a:cubicBezTo>
                        <a:pt x="57" y="207"/>
                        <a:pt x="32" y="207"/>
                        <a:pt x="16" y="191"/>
                      </a:cubicBezTo>
                      <a:cubicBezTo>
                        <a:pt x="0" y="176"/>
                        <a:pt x="0" y="150"/>
                        <a:pt x="16" y="135"/>
                      </a:cubicBezTo>
                      <a:cubicBezTo>
                        <a:pt x="139" y="12"/>
                        <a:pt x="139" y="12"/>
                        <a:pt x="139" y="12"/>
                      </a:cubicBezTo>
                      <a:cubicBezTo>
                        <a:pt x="146" y="4"/>
                        <a:pt x="157" y="0"/>
                        <a:pt x="16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2" name="Google Shape;352;g3df7b91b5cb_1_66"/>
              <p:cNvSpPr txBox="1"/>
              <p:nvPr/>
            </p:nvSpPr>
            <p:spPr>
              <a:xfrm>
                <a:off x="8531470" y="4844905"/>
                <a:ext cx="29667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End Most </a:t>
                </a: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successful</a:t>
                </a:r>
                <a:r>
                  <a:rPr lang="en-GB">
                    <a:solidFill>
                      <a:schemeClr val="dk1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 run gap</a:t>
                </a:r>
                <a:endParaRPr sz="14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pic>
        <p:nvPicPr>
          <p:cNvPr id="353" name="Google Shape;353;g3df7b91b5cb_1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50" y="1871012"/>
            <a:ext cx="6124325" cy="45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df7b91b5cb_1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8874" y="1986600"/>
            <a:ext cx="5213127" cy="48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f7b91b5cb_1_92"/>
          <p:cNvSpPr/>
          <p:nvPr/>
        </p:nvSpPr>
        <p:spPr>
          <a:xfrm>
            <a:off x="7382862" y="2"/>
            <a:ext cx="3716100" cy="5562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df7b91b5cb_1_92"/>
          <p:cNvSpPr/>
          <p:nvPr/>
        </p:nvSpPr>
        <p:spPr>
          <a:xfrm>
            <a:off x="7122513" y="1"/>
            <a:ext cx="5109536" cy="6858000"/>
          </a:xfrm>
          <a:custGeom>
            <a:rect b="b" l="l" r="r" t="t"/>
            <a:pathLst>
              <a:path extrusionOk="0" h="6858000" w="7247569">
                <a:moveTo>
                  <a:pt x="5187666" y="0"/>
                </a:moveTo>
                <a:lnTo>
                  <a:pt x="7247569" y="0"/>
                </a:lnTo>
                <a:lnTo>
                  <a:pt x="7247569" y="3571463"/>
                </a:lnTo>
                <a:lnTo>
                  <a:pt x="4761501" y="6858000"/>
                </a:lnTo>
                <a:lnTo>
                  <a:pt x="0" y="6858000"/>
                </a:lnTo>
                <a:lnTo>
                  <a:pt x="51876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g3df7b91b5cb_1_92"/>
          <p:cNvCxnSpPr/>
          <p:nvPr/>
        </p:nvCxnSpPr>
        <p:spPr>
          <a:xfrm flipH="1">
            <a:off x="10062241" y="139816"/>
            <a:ext cx="857700" cy="164550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g3df7b91b5cb_1_92"/>
          <p:cNvCxnSpPr/>
          <p:nvPr/>
        </p:nvCxnSpPr>
        <p:spPr>
          <a:xfrm flipH="1">
            <a:off x="8993005" y="139816"/>
            <a:ext cx="833400" cy="164550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3" name="Google Shape;363;g3df7b91b5cb_1_92"/>
          <p:cNvSpPr/>
          <p:nvPr/>
        </p:nvSpPr>
        <p:spPr>
          <a:xfrm>
            <a:off x="5446191" y="6491264"/>
            <a:ext cx="1221600" cy="366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df7b91b5cb_1_92"/>
          <p:cNvSpPr/>
          <p:nvPr/>
        </p:nvSpPr>
        <p:spPr>
          <a:xfrm>
            <a:off x="9298434" y="3022600"/>
            <a:ext cx="2973637" cy="3837269"/>
          </a:xfrm>
          <a:custGeom>
            <a:rect b="b" l="l" r="r" t="t"/>
            <a:pathLst>
              <a:path extrusionOk="0" h="3808704" w="4203020">
                <a:moveTo>
                  <a:pt x="2951043" y="0"/>
                </a:moveTo>
                <a:lnTo>
                  <a:pt x="4203020" y="0"/>
                </a:lnTo>
                <a:lnTo>
                  <a:pt x="1251977" y="3808704"/>
                </a:lnTo>
                <a:lnTo>
                  <a:pt x="0" y="3808704"/>
                </a:lnTo>
                <a:lnTo>
                  <a:pt x="29510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g3df7b91b5cb_1_92"/>
          <p:cNvCxnSpPr/>
          <p:nvPr/>
        </p:nvCxnSpPr>
        <p:spPr>
          <a:xfrm flipH="1">
            <a:off x="11378954" y="2813932"/>
            <a:ext cx="1116000" cy="204720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g3df7b91b5cb_1_92"/>
          <p:cNvSpPr txBox="1"/>
          <p:nvPr/>
        </p:nvSpPr>
        <p:spPr>
          <a:xfrm>
            <a:off x="1478875" y="320350"/>
            <a:ext cx="74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00338D"/>
                </a:solidFill>
              </a:rPr>
              <a:t>Modeling</a:t>
            </a:r>
            <a:r>
              <a:rPr lang="en-GB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3600">
                <a:solidFill>
                  <a:srgbClr val="D40505"/>
                </a:solidFill>
              </a:rPr>
              <a:t>Fourth Down Attempts</a:t>
            </a:r>
            <a:endParaRPr/>
          </a:p>
        </p:txBody>
      </p:sp>
      <p:sp>
        <p:nvSpPr>
          <p:cNvPr id="367" name="Google Shape;367;g3df7b91b5cb_1_92"/>
          <p:cNvSpPr txBox="1"/>
          <p:nvPr/>
        </p:nvSpPr>
        <p:spPr>
          <a:xfrm>
            <a:off x="303095" y="1111984"/>
            <a:ext cx="827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8" name="Google Shape;368;g3df7b91b5cb_1_92"/>
          <p:cNvSpPr txBox="1"/>
          <p:nvPr/>
        </p:nvSpPr>
        <p:spPr>
          <a:xfrm>
            <a:off x="334990" y="4906591"/>
            <a:ext cx="73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9" name="Google Shape;369;g3df7b91b5cb_1_92"/>
          <p:cNvGrpSpPr/>
          <p:nvPr/>
        </p:nvGrpSpPr>
        <p:grpSpPr>
          <a:xfrm>
            <a:off x="421919" y="5345900"/>
            <a:ext cx="4839626" cy="1274751"/>
            <a:chOff x="482879" y="5361140"/>
            <a:chExt cx="4839626" cy="1274751"/>
          </a:xfrm>
        </p:grpSpPr>
        <p:sp>
          <p:nvSpPr>
            <p:cNvPr id="370" name="Google Shape;370;g3df7b91b5cb_1_92"/>
            <p:cNvSpPr txBox="1"/>
            <p:nvPr/>
          </p:nvSpPr>
          <p:spPr>
            <a:xfrm>
              <a:off x="696805" y="5361140"/>
              <a:ext cx="4614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Gradient</a:t>
              </a: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Boosting Model was fit (30% learning Rate)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71" name="Google Shape;371;g3df7b91b5cb_1_92"/>
            <p:cNvSpPr txBox="1"/>
            <p:nvPr/>
          </p:nvSpPr>
          <p:spPr>
            <a:xfrm>
              <a:off x="696805" y="6005774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Yards to go most important feature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72" name="Google Shape;372;g3df7b91b5cb_1_92"/>
            <p:cNvSpPr txBox="1"/>
            <p:nvPr/>
          </p:nvSpPr>
          <p:spPr>
            <a:xfrm>
              <a:off x="696805" y="5683457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92% Accuracy on 20% holdout set </a:t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73" name="Google Shape;373;g3df7b91b5cb_1_92"/>
            <p:cNvSpPr txBox="1"/>
            <p:nvPr/>
          </p:nvSpPr>
          <p:spPr>
            <a:xfrm>
              <a:off x="696805" y="6328091"/>
              <a:ext cx="462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374" name="Google Shape;374;g3df7b91b5cb_1_92"/>
            <p:cNvGrpSpPr/>
            <p:nvPr/>
          </p:nvGrpSpPr>
          <p:grpSpPr>
            <a:xfrm>
              <a:off x="482879" y="5431374"/>
              <a:ext cx="166950" cy="166950"/>
              <a:chOff x="5857448" y="5537910"/>
              <a:chExt cx="477000" cy="477000"/>
            </a:xfrm>
          </p:grpSpPr>
          <p:sp>
            <p:nvSpPr>
              <p:cNvPr id="375" name="Google Shape;375;g3df7b91b5cb_1_92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rgbClr val="D40505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g3df7b91b5cb_1_92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g3df7b91b5cb_1_92"/>
            <p:cNvGrpSpPr/>
            <p:nvPr/>
          </p:nvGrpSpPr>
          <p:grpSpPr>
            <a:xfrm>
              <a:off x="482879" y="5753691"/>
              <a:ext cx="166950" cy="166950"/>
              <a:chOff x="5857448" y="5537910"/>
              <a:chExt cx="477000" cy="477000"/>
            </a:xfrm>
          </p:grpSpPr>
          <p:sp>
            <p:nvSpPr>
              <p:cNvPr id="378" name="Google Shape;378;g3df7b91b5cb_1_92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g3df7b91b5cb_1_92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0" name="Google Shape;380;g3df7b91b5cb_1_92"/>
            <p:cNvGrpSpPr/>
            <p:nvPr/>
          </p:nvGrpSpPr>
          <p:grpSpPr>
            <a:xfrm>
              <a:off x="482879" y="6076008"/>
              <a:ext cx="166950" cy="166950"/>
              <a:chOff x="5857448" y="5537910"/>
              <a:chExt cx="477000" cy="477000"/>
            </a:xfrm>
          </p:grpSpPr>
          <p:sp>
            <p:nvSpPr>
              <p:cNvPr id="381" name="Google Shape;381;g3df7b91b5cb_1_92"/>
              <p:cNvSpPr/>
              <p:nvPr/>
            </p:nvSpPr>
            <p:spPr>
              <a:xfrm rot="-5400000">
                <a:off x="5857448" y="5537910"/>
                <a:ext cx="477000" cy="477000"/>
              </a:xfrm>
              <a:prstGeom prst="ellipse">
                <a:avLst/>
              </a:prstGeom>
              <a:solidFill>
                <a:srgbClr val="D40505"/>
              </a:solidFill>
              <a:ln>
                <a:noFill/>
              </a:ln>
              <a:effectLst>
                <a:outerShdw blurRad="177800" rotWithShape="0" algn="ctr" dir="5400000" dist="63500">
                  <a:srgbClr val="000000">
                    <a:alpha val="2509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g3df7b91b5cb_1_92"/>
              <p:cNvSpPr/>
              <p:nvPr/>
            </p:nvSpPr>
            <p:spPr>
              <a:xfrm rot="5400000">
                <a:off x="5965249" y="5700323"/>
                <a:ext cx="261501" cy="163155"/>
              </a:xfrm>
              <a:custGeom>
                <a:rect b="b" l="l" r="r" t="t"/>
                <a:pathLst>
                  <a:path extrusionOk="0" h="207" w="333">
                    <a:moveTo>
                      <a:pt x="167" y="0"/>
                    </a:moveTo>
                    <a:cubicBezTo>
                      <a:pt x="177" y="0"/>
                      <a:pt x="187" y="4"/>
                      <a:pt x="195" y="12"/>
                    </a:cubicBezTo>
                    <a:cubicBezTo>
                      <a:pt x="318" y="135"/>
                      <a:pt x="318" y="135"/>
                      <a:pt x="318" y="135"/>
                    </a:cubicBezTo>
                    <a:cubicBezTo>
                      <a:pt x="333" y="150"/>
                      <a:pt x="333" y="176"/>
                      <a:pt x="318" y="191"/>
                    </a:cubicBezTo>
                    <a:cubicBezTo>
                      <a:pt x="302" y="207"/>
                      <a:pt x="277" y="207"/>
                      <a:pt x="261" y="191"/>
                    </a:cubicBezTo>
                    <a:cubicBezTo>
                      <a:pt x="167" y="97"/>
                      <a:pt x="167" y="97"/>
                      <a:pt x="167" y="97"/>
                    </a:cubicBezTo>
                    <a:cubicBezTo>
                      <a:pt x="72" y="191"/>
                      <a:pt x="72" y="191"/>
                      <a:pt x="72" y="191"/>
                    </a:cubicBezTo>
                    <a:cubicBezTo>
                      <a:pt x="57" y="207"/>
                      <a:pt x="32" y="207"/>
                      <a:pt x="16" y="191"/>
                    </a:cubicBezTo>
                    <a:cubicBezTo>
                      <a:pt x="0" y="176"/>
                      <a:pt x="0" y="150"/>
                      <a:pt x="16" y="135"/>
                    </a:cubicBezTo>
                    <a:cubicBezTo>
                      <a:pt x="139" y="12"/>
                      <a:pt x="139" y="12"/>
                      <a:pt x="139" y="12"/>
                    </a:cubicBezTo>
                    <a:cubicBezTo>
                      <a:pt x="146" y="4"/>
                      <a:pt x="157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83" name="Google Shape;383;g3df7b91b5cb_1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825" y="1223106"/>
            <a:ext cx="6291626" cy="399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f7b91b5cb_1_2"/>
          <p:cNvSpPr/>
          <p:nvPr/>
        </p:nvSpPr>
        <p:spPr>
          <a:xfrm>
            <a:off x="0" y="0"/>
            <a:ext cx="5471160" cy="6899817"/>
          </a:xfrm>
          <a:custGeom>
            <a:rect b="b" l="l" r="r" t="t"/>
            <a:pathLst>
              <a:path extrusionOk="0" h="6493945" w="6096000">
                <a:moveTo>
                  <a:pt x="2912541" y="0"/>
                </a:moveTo>
                <a:lnTo>
                  <a:pt x="6096000" y="0"/>
                </a:lnTo>
                <a:lnTo>
                  <a:pt x="1063842" y="6493945"/>
                </a:lnTo>
                <a:lnTo>
                  <a:pt x="0" y="6493945"/>
                </a:lnTo>
                <a:lnTo>
                  <a:pt x="0" y="3758603"/>
                </a:lnTo>
                <a:lnTo>
                  <a:pt x="2912541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g3df7b91b5cb_1_2"/>
          <p:cNvGrpSpPr/>
          <p:nvPr/>
        </p:nvGrpSpPr>
        <p:grpSpPr>
          <a:xfrm>
            <a:off x="0" y="-37415"/>
            <a:ext cx="1219451" cy="1896991"/>
            <a:chOff x="-1" y="-1"/>
            <a:chExt cx="3413916" cy="5132551"/>
          </a:xfrm>
        </p:grpSpPr>
        <p:sp>
          <p:nvSpPr>
            <p:cNvPr id="390" name="Google Shape;390;g3df7b91b5cb_1_2"/>
            <p:cNvSpPr/>
            <p:nvPr/>
          </p:nvSpPr>
          <p:spPr>
            <a:xfrm>
              <a:off x="-1" y="0"/>
              <a:ext cx="3413916" cy="5132550"/>
            </a:xfrm>
            <a:custGeom>
              <a:rect b="b" l="l" r="r" t="t"/>
              <a:pathLst>
                <a:path extrusionOk="0" h="4405622" w="3413916">
                  <a:moveTo>
                    <a:pt x="2002873" y="0"/>
                  </a:moveTo>
                  <a:lnTo>
                    <a:pt x="3413916" y="0"/>
                  </a:lnTo>
                  <a:lnTo>
                    <a:pt x="0" y="4405622"/>
                  </a:lnTo>
                  <a:lnTo>
                    <a:pt x="0" y="2584686"/>
                  </a:lnTo>
                  <a:lnTo>
                    <a:pt x="2002873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6A0202"/>
                </a:gs>
              </a:gsLst>
              <a:lin ang="5400012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df7b91b5cb_1_2"/>
            <p:cNvSpPr/>
            <p:nvPr/>
          </p:nvSpPr>
          <p:spPr>
            <a:xfrm>
              <a:off x="190574" y="-1"/>
              <a:ext cx="2074800" cy="1988400"/>
            </a:xfrm>
            <a:prstGeom prst="parallelogram">
              <a:avLst>
                <a:gd fmla="val 65811" name="adj"/>
              </a:avLst>
            </a:prstGeom>
            <a:solidFill>
              <a:srgbClr val="0133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df7b91b5cb_1_2"/>
            <p:cNvSpPr/>
            <p:nvPr/>
          </p:nvSpPr>
          <p:spPr>
            <a:xfrm>
              <a:off x="0" y="2554514"/>
              <a:ext cx="1800270" cy="2483452"/>
            </a:xfrm>
            <a:custGeom>
              <a:rect b="b" l="l" r="r" t="t"/>
              <a:pathLst>
                <a:path extrusionOk="0" h="6408909" w="4966263">
                  <a:moveTo>
                    <a:pt x="3387615" y="0"/>
                  </a:moveTo>
                  <a:lnTo>
                    <a:pt x="4966263" y="0"/>
                  </a:lnTo>
                  <a:lnTo>
                    <a:pt x="0" y="6408909"/>
                  </a:lnTo>
                  <a:lnTo>
                    <a:pt x="0" y="4371681"/>
                  </a:lnTo>
                  <a:lnTo>
                    <a:pt x="33876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g3df7b91b5cb_1_2"/>
          <p:cNvSpPr/>
          <p:nvPr/>
        </p:nvSpPr>
        <p:spPr>
          <a:xfrm>
            <a:off x="6823829" y="3429000"/>
            <a:ext cx="2476515" cy="3429000"/>
          </a:xfrm>
          <a:custGeom>
            <a:rect b="b" l="l" r="r" t="t"/>
            <a:pathLst>
              <a:path extrusionOk="0" h="3429000" w="2476515">
                <a:moveTo>
                  <a:pt x="0" y="0"/>
                </a:moveTo>
                <a:lnTo>
                  <a:pt x="1007190" y="0"/>
                </a:lnTo>
                <a:lnTo>
                  <a:pt x="2476515" y="3429000"/>
                </a:lnTo>
                <a:lnTo>
                  <a:pt x="1469325" y="3429000"/>
                </a:lnTo>
                <a:close/>
              </a:path>
            </a:pathLst>
          </a:custGeom>
          <a:gradFill>
            <a:gsLst>
              <a:gs pos="0">
                <a:srgbClr val="BF2129"/>
              </a:gs>
              <a:gs pos="100000">
                <a:srgbClr val="6A020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df7b91b5cb_1_2"/>
          <p:cNvSpPr/>
          <p:nvPr/>
        </p:nvSpPr>
        <p:spPr>
          <a:xfrm>
            <a:off x="7014125" y="2741248"/>
            <a:ext cx="2067890" cy="2811780"/>
          </a:xfrm>
          <a:custGeom>
            <a:rect b="b" l="l" r="r" t="t"/>
            <a:pathLst>
              <a:path extrusionOk="0" h="3429000" w="2476515">
                <a:moveTo>
                  <a:pt x="0" y="0"/>
                </a:moveTo>
                <a:lnTo>
                  <a:pt x="1007190" y="0"/>
                </a:lnTo>
                <a:lnTo>
                  <a:pt x="2476515" y="3429000"/>
                </a:lnTo>
                <a:lnTo>
                  <a:pt x="1469325" y="3429000"/>
                </a:lnTo>
                <a:close/>
              </a:path>
            </a:pathLst>
          </a:custGeom>
          <a:solidFill>
            <a:schemeClr val="accent2">
              <a:alpha val="702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g3df7b91b5cb_1_2"/>
          <p:cNvGrpSpPr/>
          <p:nvPr/>
        </p:nvGrpSpPr>
        <p:grpSpPr>
          <a:xfrm>
            <a:off x="0" y="1838975"/>
            <a:ext cx="9081900" cy="3093725"/>
            <a:chOff x="84572" y="1356247"/>
            <a:chExt cx="9081900" cy="3093725"/>
          </a:xfrm>
        </p:grpSpPr>
        <p:sp>
          <p:nvSpPr>
            <p:cNvPr id="396" name="Google Shape;396;g3df7b91b5cb_1_2"/>
            <p:cNvSpPr txBox="1"/>
            <p:nvPr/>
          </p:nvSpPr>
          <p:spPr>
            <a:xfrm>
              <a:off x="84572" y="1356247"/>
              <a:ext cx="9081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600">
                  <a:solidFill>
                    <a:schemeClr val="accent2"/>
                  </a:solidFill>
                </a:rPr>
                <a:t>Recommendations And Conclusions</a:t>
              </a:r>
              <a:endParaRPr sz="3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3df7b91b5cb_1_2"/>
            <p:cNvSpPr txBox="1"/>
            <p:nvPr/>
          </p:nvSpPr>
          <p:spPr>
            <a:xfrm>
              <a:off x="1080171" y="2002572"/>
              <a:ext cx="5567100" cy="24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Quattrocento Sans"/>
                <a:buAutoNum type="arabicParenR"/>
              </a:pP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Teams </a:t>
              </a: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should</a:t>
              </a: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take advantage of pass </a:t>
              </a: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situations</a:t>
              </a: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where the defense lines up in zone.</a:t>
              </a:r>
              <a:endPara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429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Quattrocento Sans"/>
                <a:buAutoNum type="arabicParenR"/>
              </a:pP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Teams should run more into the end gap</a:t>
              </a:r>
              <a:endPara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-3429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Quattrocento Sans"/>
                <a:buAutoNum type="arabicParenR"/>
              </a:pP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Yards to go, time remaining, yardline, and score </a:t>
              </a: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differential</a:t>
              </a:r>
              <a:r>
                <a:rPr lang="en-GB" sz="180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are the most important variables in determining if a team goes for fourth down or not</a:t>
              </a:r>
              <a:endPara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98" name="Google Shape;398;g3df7b91b5cb_1_2"/>
          <p:cNvSpPr/>
          <p:nvPr/>
        </p:nvSpPr>
        <p:spPr>
          <a:xfrm>
            <a:off x="320530" y="6398418"/>
            <a:ext cx="2867100" cy="459600"/>
          </a:xfrm>
          <a:prstGeom prst="parallelogram">
            <a:avLst>
              <a:gd fmla="val 7749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4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NFL tea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40505"/>
      </a:accent1>
      <a:accent2>
        <a:srgbClr val="01336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2025-10-27T12:38:28Z</dcterms:created>
  <dc:creator>Nithya Balu</dc:creator>
</cp:coreProperties>
</file>